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57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87553" y="2349500"/>
            <a:ext cx="6229693" cy="2524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E324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E324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E324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01000" y="1816100"/>
            <a:ext cx="4420234" cy="539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E324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23625" y="223520"/>
            <a:ext cx="8357549" cy="160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E324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63890" y="2222500"/>
            <a:ext cx="5813425" cy="369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useast.ensembl.org/Homo_sapiens/Location/View?db=core%3Bg%3DENSG00000139618%3Br%3D13%3A32889611-32973805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amnh.org/exhibitions/darwin/idea/treelg.php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rcsb.org/pdb/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boinc.bakerlab.org/rosetta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hyperlink" Target="http://fold.it/portal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genetics.utah.edu/content/labs/microarra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387553" y="2349500"/>
            <a:ext cx="6229693" cy="1269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9840"/>
              </a:lnSpc>
            </a:pPr>
            <a:r>
              <a:rPr sz="8400" spc="-310" dirty="0">
                <a:latin typeface="Arial"/>
                <a:cs typeface="Arial"/>
              </a:rPr>
              <a:t>Bioinformatics</a:t>
            </a:r>
            <a:endParaRPr sz="8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0" y="8991600"/>
            <a:ext cx="71886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55" dirty="0">
                <a:latin typeface="Arial"/>
                <a:cs typeface="Arial"/>
              </a:rPr>
              <a:t>Slides adapted from CMU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5716" y="223520"/>
            <a:ext cx="9633585" cy="160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5175" marR="5080" indent="-3293110">
              <a:lnSpc>
                <a:spcPct val="107600"/>
              </a:lnSpc>
              <a:spcBef>
                <a:spcPts val="100"/>
              </a:spcBef>
              <a:tabLst>
                <a:tab pos="1743710" algn="l"/>
                <a:tab pos="3188335" algn="l"/>
                <a:tab pos="5326380" algn="l"/>
                <a:tab pos="6814184" algn="l"/>
                <a:tab pos="7595870" algn="l"/>
                <a:tab pos="8439785" algn="l"/>
              </a:tabLst>
            </a:pPr>
            <a:r>
              <a:rPr spc="229" dirty="0">
                <a:solidFill>
                  <a:srgbClr val="FF4013"/>
                </a:solidFill>
              </a:rPr>
              <a:t>What</a:t>
            </a:r>
            <a:r>
              <a:rPr dirty="0">
                <a:solidFill>
                  <a:srgbClr val="FF4013"/>
                </a:solidFill>
              </a:rPr>
              <a:t>	</a:t>
            </a:r>
            <a:r>
              <a:rPr spc="-20" dirty="0">
                <a:solidFill>
                  <a:srgbClr val="FF4013"/>
                </a:solidFill>
              </a:rPr>
              <a:t>does</a:t>
            </a:r>
            <a:r>
              <a:rPr dirty="0">
                <a:solidFill>
                  <a:srgbClr val="FF4013"/>
                </a:solidFill>
              </a:rPr>
              <a:t>	</a:t>
            </a:r>
            <a:r>
              <a:rPr spc="85" dirty="0">
                <a:solidFill>
                  <a:srgbClr val="FF4013"/>
                </a:solidFill>
              </a:rPr>
              <a:t>biology</a:t>
            </a:r>
            <a:r>
              <a:rPr dirty="0">
                <a:solidFill>
                  <a:srgbClr val="FF4013"/>
                </a:solidFill>
              </a:rPr>
              <a:t>	</a:t>
            </a:r>
            <a:r>
              <a:rPr spc="90" dirty="0">
                <a:solidFill>
                  <a:srgbClr val="FF4013"/>
                </a:solidFill>
              </a:rPr>
              <a:t>have</a:t>
            </a:r>
            <a:r>
              <a:rPr dirty="0">
                <a:solidFill>
                  <a:srgbClr val="FF4013"/>
                </a:solidFill>
              </a:rPr>
              <a:t>	</a:t>
            </a:r>
            <a:r>
              <a:rPr spc="55" dirty="0">
                <a:solidFill>
                  <a:srgbClr val="FF4013"/>
                </a:solidFill>
              </a:rPr>
              <a:t>to</a:t>
            </a:r>
            <a:r>
              <a:rPr dirty="0">
                <a:solidFill>
                  <a:srgbClr val="FF4013"/>
                </a:solidFill>
              </a:rPr>
              <a:t>	</a:t>
            </a:r>
            <a:r>
              <a:rPr spc="-25" dirty="0">
                <a:solidFill>
                  <a:srgbClr val="FF4013"/>
                </a:solidFill>
              </a:rPr>
              <a:t>do</a:t>
            </a:r>
            <a:r>
              <a:rPr dirty="0">
                <a:solidFill>
                  <a:srgbClr val="FF4013"/>
                </a:solidFill>
              </a:rPr>
              <a:t>	</a:t>
            </a:r>
            <a:r>
              <a:rPr spc="340" dirty="0">
                <a:solidFill>
                  <a:srgbClr val="FF4013"/>
                </a:solidFill>
              </a:rPr>
              <a:t>w</a:t>
            </a:r>
            <a:r>
              <a:rPr spc="-170" dirty="0">
                <a:solidFill>
                  <a:srgbClr val="FF4013"/>
                </a:solidFill>
              </a:rPr>
              <a:t>i</a:t>
            </a:r>
            <a:r>
              <a:rPr spc="155" dirty="0">
                <a:solidFill>
                  <a:srgbClr val="FF4013"/>
                </a:solidFill>
              </a:rPr>
              <a:t>th</a:t>
            </a:r>
            <a:r>
              <a:rPr spc="120" dirty="0">
                <a:solidFill>
                  <a:srgbClr val="FF4013"/>
                </a:solidFill>
              </a:rPr>
              <a:t> </a:t>
            </a:r>
            <a:r>
              <a:rPr spc="35" dirty="0">
                <a:solidFill>
                  <a:srgbClr val="FF4013"/>
                </a:solidFill>
              </a:rPr>
              <a:t>computers?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8600" y="2260600"/>
            <a:ext cx="9583420" cy="9271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84200" marR="5080" indent="-571500">
              <a:lnSpc>
                <a:spcPts val="3500"/>
              </a:lnSpc>
              <a:spcBef>
                <a:spcPts val="300"/>
              </a:spcBef>
              <a:buSzPct val="170000"/>
              <a:buChar char="•"/>
              <a:tabLst>
                <a:tab pos="584200" algn="l"/>
              </a:tabLst>
            </a:pPr>
            <a:r>
              <a:rPr sz="3000" spc="-195" dirty="0">
                <a:latin typeface="Arial"/>
                <a:cs typeface="Arial"/>
              </a:rPr>
              <a:t>Huge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14" dirty="0">
                <a:latin typeface="Arial"/>
                <a:cs typeface="Arial"/>
              </a:rPr>
              <a:t>amount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95" dirty="0">
                <a:latin typeface="Arial"/>
                <a:cs typeface="Arial"/>
              </a:rPr>
              <a:t>data:</a:t>
            </a:r>
            <a:r>
              <a:rPr sz="3000" spc="-30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too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190" dirty="0">
                <a:latin typeface="Arial"/>
                <a:cs typeface="Arial"/>
              </a:rPr>
              <a:t>much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75" dirty="0">
                <a:latin typeface="Arial"/>
                <a:cs typeface="Arial"/>
              </a:rPr>
              <a:t>to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250" dirty="0">
                <a:latin typeface="Arial"/>
                <a:cs typeface="Arial"/>
              </a:rPr>
              <a:t>analyze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85" dirty="0">
                <a:latin typeface="Arial"/>
                <a:cs typeface="Arial"/>
              </a:rPr>
              <a:t>by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215" dirty="0">
                <a:latin typeface="Arial"/>
                <a:cs typeface="Arial"/>
              </a:rPr>
              <a:t>hand,</a:t>
            </a:r>
            <a:r>
              <a:rPr sz="3000" spc="-30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lots </a:t>
            </a:r>
            <a:r>
              <a:rPr sz="3000" spc="-25" dirty="0">
                <a:latin typeface="Arial"/>
                <a:cs typeface="Arial"/>
              </a:rPr>
              <a:t>of </a:t>
            </a:r>
            <a:r>
              <a:rPr sz="3000" spc="-114" dirty="0">
                <a:latin typeface="Arial"/>
                <a:cs typeface="Arial"/>
              </a:rPr>
              <a:t>mystery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left</a:t>
            </a:r>
            <a:r>
              <a:rPr sz="3000" spc="-190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about </a:t>
            </a:r>
            <a:r>
              <a:rPr sz="3000" spc="-25" dirty="0">
                <a:latin typeface="Arial"/>
                <a:cs typeface="Arial"/>
              </a:rPr>
              <a:t>how</a:t>
            </a:r>
            <a:r>
              <a:rPr sz="3000" spc="-125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life</a:t>
            </a:r>
            <a:r>
              <a:rPr sz="3000" spc="-1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works.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600" y="40613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0100" y="4241800"/>
            <a:ext cx="4640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80" dirty="0">
                <a:latin typeface="Arial"/>
                <a:cs typeface="Arial"/>
              </a:rPr>
              <a:t>Requires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20" dirty="0">
                <a:latin typeface="Arial"/>
                <a:cs typeface="Arial"/>
              </a:rPr>
              <a:t>clever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-120" dirty="0">
                <a:latin typeface="Arial"/>
                <a:cs typeface="Arial"/>
              </a:rPr>
              <a:t>algorithms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to: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3100" y="51281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3100" y="56488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3100" y="61695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3100" y="4724400"/>
            <a:ext cx="9293860" cy="255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4914265" indent="-571500">
              <a:lnSpc>
                <a:spcPct val="113900"/>
              </a:lnSpc>
              <a:spcBef>
                <a:spcPts val="100"/>
              </a:spcBef>
              <a:buSzPct val="170000"/>
              <a:buChar char="•"/>
              <a:tabLst>
                <a:tab pos="584200" algn="l"/>
              </a:tabLst>
            </a:pPr>
            <a:r>
              <a:rPr sz="3000" spc="-50" dirty="0">
                <a:latin typeface="Arial"/>
                <a:cs typeface="Arial"/>
              </a:rPr>
              <a:t>find</a:t>
            </a:r>
            <a:r>
              <a:rPr sz="3000" spc="-130" dirty="0">
                <a:latin typeface="Arial"/>
                <a:cs typeface="Arial"/>
              </a:rPr>
              <a:t> </a:t>
            </a:r>
            <a:r>
              <a:rPr sz="3000" spc="-95" dirty="0">
                <a:latin typeface="Arial"/>
                <a:cs typeface="Arial"/>
              </a:rPr>
              <a:t>interesting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patterns </a:t>
            </a:r>
            <a:r>
              <a:rPr sz="3000" spc="-30" dirty="0">
                <a:latin typeface="Arial"/>
                <a:cs typeface="Arial"/>
              </a:rPr>
              <a:t>store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/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spc="-215" dirty="0">
                <a:latin typeface="Arial"/>
                <a:cs typeface="Arial"/>
              </a:rPr>
              <a:t>search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/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140" dirty="0">
                <a:latin typeface="Arial"/>
                <a:cs typeface="Arial"/>
              </a:rPr>
              <a:t>compare</a:t>
            </a:r>
            <a:endParaRPr sz="30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500"/>
              </a:spcBef>
            </a:pPr>
            <a:r>
              <a:rPr sz="3000" spc="-185" dirty="0">
                <a:latin typeface="Arial"/>
                <a:cs typeface="Arial"/>
              </a:rPr>
              <a:t>visualize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195" dirty="0">
                <a:latin typeface="Arial"/>
                <a:cs typeface="Arial"/>
              </a:rPr>
              <a:t>vast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90" dirty="0">
                <a:latin typeface="Arial"/>
                <a:cs typeface="Arial"/>
              </a:rPr>
              <a:t>collections</a:t>
            </a:r>
            <a:r>
              <a:rPr sz="3000" spc="-1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data</a:t>
            </a:r>
            <a:endParaRPr sz="3000">
              <a:latin typeface="Arial"/>
              <a:cs typeface="Arial"/>
            </a:endParaRPr>
          </a:p>
          <a:p>
            <a:pPr marL="584200" marR="5080">
              <a:lnSpc>
                <a:spcPts val="3500"/>
              </a:lnSpc>
              <a:spcBef>
                <a:spcPts val="700"/>
              </a:spcBef>
            </a:pPr>
            <a:r>
              <a:rPr sz="3000" spc="-50" dirty="0">
                <a:latin typeface="Arial"/>
                <a:cs typeface="Arial"/>
              </a:rPr>
              <a:t>predict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spc="-220" dirty="0">
                <a:latin typeface="Arial"/>
                <a:cs typeface="Arial"/>
              </a:rPr>
              <a:t>missing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80" dirty="0">
                <a:latin typeface="Arial"/>
                <a:cs typeface="Arial"/>
              </a:rPr>
              <a:t>or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35" dirty="0">
                <a:latin typeface="Arial"/>
                <a:cs typeface="Arial"/>
              </a:rPr>
              <a:t>hard-</a:t>
            </a:r>
            <a:r>
              <a:rPr sz="3000" dirty="0">
                <a:latin typeface="Arial"/>
                <a:cs typeface="Arial"/>
              </a:rPr>
              <a:t>to-</a:t>
            </a:r>
            <a:r>
              <a:rPr sz="3000" spc="-140" dirty="0">
                <a:latin typeface="Arial"/>
                <a:cs typeface="Arial"/>
              </a:rPr>
              <a:t>observe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50" dirty="0">
                <a:latin typeface="Arial"/>
                <a:cs typeface="Arial"/>
              </a:rPr>
              <a:t>features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(like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protein </a:t>
            </a:r>
            <a:r>
              <a:rPr sz="3000" spc="-40" dirty="0">
                <a:latin typeface="Arial"/>
                <a:cs typeface="Arial"/>
              </a:rPr>
              <a:t>structure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80" dirty="0">
                <a:latin typeface="Arial"/>
                <a:cs typeface="Arial"/>
              </a:rPr>
              <a:t>or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85" dirty="0">
                <a:latin typeface="Arial"/>
                <a:cs typeface="Arial"/>
              </a:rPr>
              <a:t>evolutionary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40" dirty="0">
                <a:latin typeface="Arial"/>
                <a:cs typeface="Arial"/>
              </a:rPr>
              <a:t>relationships)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600" y="79221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0100" y="8102600"/>
            <a:ext cx="9361805" cy="9271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3500"/>
              </a:lnSpc>
              <a:spcBef>
                <a:spcPts val="300"/>
              </a:spcBef>
            </a:pPr>
            <a:r>
              <a:rPr sz="3000" spc="-65" dirty="0">
                <a:latin typeface="Arial"/>
                <a:cs typeface="Arial"/>
              </a:rPr>
              <a:t>Nearly</a:t>
            </a:r>
            <a:r>
              <a:rPr sz="3000" spc="-145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all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molecular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95" dirty="0">
                <a:latin typeface="Arial"/>
                <a:cs typeface="Arial"/>
              </a:rPr>
              <a:t>biology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spc="-170" dirty="0">
                <a:latin typeface="Arial"/>
                <a:cs typeface="Arial"/>
              </a:rPr>
              <a:t>is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90" dirty="0">
                <a:latin typeface="Arial"/>
                <a:cs typeface="Arial"/>
              </a:rPr>
              <a:t>now</a:t>
            </a:r>
            <a:r>
              <a:rPr sz="3000" spc="-305" dirty="0">
                <a:latin typeface="Arial"/>
                <a:cs typeface="Arial"/>
              </a:rPr>
              <a:t> </a:t>
            </a:r>
            <a:r>
              <a:rPr sz="3000" spc="-75" dirty="0">
                <a:latin typeface="Arial"/>
                <a:cs typeface="Arial"/>
              </a:rPr>
              <a:t>“computational </a:t>
            </a:r>
            <a:r>
              <a:rPr sz="3000" spc="-40" dirty="0">
                <a:latin typeface="Arial"/>
                <a:cs typeface="Arial"/>
              </a:rPr>
              <a:t>biology”: </a:t>
            </a:r>
            <a:r>
              <a:rPr sz="3000" spc="-114" dirty="0">
                <a:latin typeface="Arial"/>
                <a:cs typeface="Arial"/>
              </a:rPr>
              <a:t>biologists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-175" dirty="0">
                <a:latin typeface="Arial"/>
                <a:cs typeface="Arial"/>
              </a:rPr>
              <a:t>depend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on</a:t>
            </a:r>
            <a:r>
              <a:rPr sz="3000" spc="-105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computer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135" dirty="0">
                <a:latin typeface="Arial"/>
                <a:cs typeface="Arial"/>
              </a:rPr>
              <a:t>scientists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125" dirty="0">
                <a:latin typeface="Arial"/>
                <a:cs typeface="Arial"/>
              </a:rPr>
              <a:t>every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345" dirty="0">
                <a:latin typeface="Arial"/>
                <a:cs typeface="Arial"/>
              </a:rPr>
              <a:t>day.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909" y="546100"/>
            <a:ext cx="69157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3840" algn="l"/>
              </a:tabLst>
            </a:pPr>
            <a:r>
              <a:rPr spc="45" dirty="0"/>
              <a:t>Computational</a:t>
            </a:r>
            <a:r>
              <a:rPr dirty="0"/>
              <a:t>	</a:t>
            </a:r>
            <a:r>
              <a:rPr spc="170" dirty="0"/>
              <a:t>Successes: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8100" y="2540000"/>
            <a:ext cx="9305290" cy="558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83565" algn="l"/>
              </a:tabLst>
            </a:pPr>
            <a:r>
              <a:rPr sz="4200" dirty="0">
                <a:latin typeface="Tahoma"/>
                <a:cs typeface="Tahoma"/>
              </a:rPr>
              <a:t>Genome</a:t>
            </a:r>
            <a:r>
              <a:rPr sz="4200" spc="-55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assembly</a:t>
            </a:r>
            <a:endParaRPr sz="4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90"/>
              </a:spcBef>
              <a:buFont typeface="Tahoma"/>
              <a:buAutoNum type="arabicPeriod"/>
            </a:pPr>
            <a:endParaRPr sz="42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4200" dirty="0">
                <a:latin typeface="Tahoma"/>
                <a:cs typeface="Tahoma"/>
              </a:rPr>
              <a:t>Gene</a:t>
            </a:r>
            <a:r>
              <a:rPr sz="4200" spc="-30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discovery</a:t>
            </a:r>
            <a:endParaRPr sz="4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90"/>
              </a:spcBef>
              <a:buFont typeface="Tahoma"/>
              <a:buAutoNum type="arabicPeriod"/>
            </a:pPr>
            <a:endParaRPr sz="42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AutoNum type="arabicPeriod"/>
              <a:tabLst>
                <a:tab pos="583565" algn="l"/>
                <a:tab pos="6576059" algn="l"/>
              </a:tabLst>
            </a:pPr>
            <a:r>
              <a:rPr sz="4200" dirty="0">
                <a:latin typeface="Tahoma"/>
                <a:cs typeface="Tahoma"/>
              </a:rPr>
              <a:t>Understanding</a:t>
            </a:r>
            <a:r>
              <a:rPr sz="4200" spc="-95" dirty="0">
                <a:latin typeface="Tahoma"/>
                <a:cs typeface="Tahoma"/>
              </a:rPr>
              <a:t> </a:t>
            </a:r>
            <a:r>
              <a:rPr sz="4200" dirty="0">
                <a:latin typeface="Tahoma"/>
                <a:cs typeface="Tahoma"/>
              </a:rPr>
              <a:t>the</a:t>
            </a:r>
            <a:r>
              <a:rPr sz="4200" spc="-90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origin</a:t>
            </a:r>
            <a:r>
              <a:rPr sz="4200" dirty="0">
                <a:latin typeface="Tahoma"/>
                <a:cs typeface="Tahoma"/>
              </a:rPr>
              <a:t>	of</a:t>
            </a:r>
            <a:r>
              <a:rPr sz="4200" spc="-35" dirty="0">
                <a:latin typeface="Tahoma"/>
                <a:cs typeface="Tahoma"/>
              </a:rPr>
              <a:t> </a:t>
            </a:r>
            <a:r>
              <a:rPr sz="4200" dirty="0">
                <a:latin typeface="Tahoma"/>
                <a:cs typeface="Tahoma"/>
              </a:rPr>
              <a:t>swine</a:t>
            </a:r>
            <a:r>
              <a:rPr sz="4200" spc="-35" dirty="0">
                <a:latin typeface="Tahoma"/>
                <a:cs typeface="Tahoma"/>
              </a:rPr>
              <a:t> </a:t>
            </a:r>
            <a:r>
              <a:rPr sz="4200" spc="-25" dirty="0">
                <a:latin typeface="Tahoma"/>
                <a:cs typeface="Tahoma"/>
              </a:rPr>
              <a:t>flu</a:t>
            </a:r>
            <a:endParaRPr sz="4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90"/>
              </a:spcBef>
              <a:buFont typeface="Tahoma"/>
              <a:buAutoNum type="arabicPeriod"/>
            </a:pPr>
            <a:endParaRPr sz="42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AutoNum type="arabicPeriod"/>
              <a:tabLst>
                <a:tab pos="583565" algn="l"/>
                <a:tab pos="4889500" algn="l"/>
              </a:tabLst>
            </a:pPr>
            <a:r>
              <a:rPr sz="4200" dirty="0">
                <a:latin typeface="Tahoma"/>
                <a:cs typeface="Tahoma"/>
              </a:rPr>
              <a:t>Predicting</a:t>
            </a:r>
            <a:r>
              <a:rPr sz="4200" spc="-145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protein</a:t>
            </a:r>
            <a:r>
              <a:rPr sz="4200" dirty="0">
                <a:latin typeface="Tahoma"/>
                <a:cs typeface="Tahoma"/>
              </a:rPr>
              <a:t>	</a:t>
            </a:r>
            <a:r>
              <a:rPr sz="4200" spc="-10" dirty="0">
                <a:latin typeface="Tahoma"/>
                <a:cs typeface="Tahoma"/>
              </a:rPr>
              <a:t>structure</a:t>
            </a:r>
            <a:endParaRPr sz="4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830" y="3644900"/>
            <a:ext cx="48660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6490" algn="l"/>
              </a:tabLst>
            </a:pPr>
            <a:r>
              <a:rPr spc="-10" dirty="0"/>
              <a:t>Genome</a:t>
            </a:r>
            <a:r>
              <a:rPr dirty="0"/>
              <a:t>	</a:t>
            </a:r>
            <a:r>
              <a:rPr spc="125" dirty="0"/>
              <a:t>assembly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6878" y="490243"/>
            <a:ext cx="4897755" cy="4205605"/>
            <a:chOff x="446878" y="490243"/>
            <a:chExt cx="4897755" cy="4205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099" y="622300"/>
              <a:ext cx="4686300" cy="397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6878" y="490243"/>
              <a:ext cx="4897755" cy="4205605"/>
            </a:xfrm>
            <a:custGeom>
              <a:avLst/>
              <a:gdLst/>
              <a:ahLst/>
              <a:cxnLst/>
              <a:rect l="l" t="t" r="r" b="b"/>
              <a:pathLst>
                <a:path w="4897755" h="4205605">
                  <a:moveTo>
                    <a:pt x="0" y="132056"/>
                  </a:moveTo>
                  <a:lnTo>
                    <a:pt x="4866606" y="132056"/>
                  </a:lnTo>
                </a:path>
                <a:path w="4897755" h="4205605">
                  <a:moveTo>
                    <a:pt x="4788411" y="49097"/>
                  </a:moveTo>
                  <a:lnTo>
                    <a:pt x="4788411" y="4205440"/>
                  </a:lnTo>
                </a:path>
                <a:path w="4897755" h="4205605">
                  <a:moveTo>
                    <a:pt x="4897378" y="4107156"/>
                  </a:moveTo>
                  <a:lnTo>
                    <a:pt x="19599" y="4107156"/>
                  </a:lnTo>
                </a:path>
                <a:path w="4897755" h="4205605">
                  <a:moveTo>
                    <a:pt x="99221" y="4182685"/>
                  </a:moveTo>
                  <a:lnTo>
                    <a:pt x="9922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14329" y="596900"/>
            <a:ext cx="47948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8675" algn="l"/>
                <a:tab pos="2792730" algn="l"/>
                <a:tab pos="3811270" algn="l"/>
              </a:tabLst>
            </a:pPr>
            <a:r>
              <a:rPr sz="4200" spc="-10" dirty="0"/>
              <a:t>Genome</a:t>
            </a:r>
            <a:r>
              <a:rPr sz="4200" dirty="0"/>
              <a:t>	</a:t>
            </a:r>
            <a:r>
              <a:rPr sz="4200" spc="140" dirty="0"/>
              <a:t>of</a:t>
            </a:r>
            <a:r>
              <a:rPr sz="4200" dirty="0"/>
              <a:t>	</a:t>
            </a:r>
            <a:r>
              <a:rPr sz="4200" spc="195" dirty="0"/>
              <a:t>the</a:t>
            </a:r>
            <a:r>
              <a:rPr sz="4200" dirty="0"/>
              <a:t>	</a:t>
            </a:r>
            <a:r>
              <a:rPr sz="4200" spc="-25" dirty="0"/>
              <a:t>Cow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156970" y="1606550"/>
            <a:ext cx="4761230" cy="28409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63500" marR="5080">
              <a:lnSpc>
                <a:spcPts val="4100"/>
              </a:lnSpc>
              <a:spcBef>
                <a:spcPts val="420"/>
              </a:spcBef>
            </a:pPr>
            <a:r>
              <a:rPr sz="3600" spc="-480" dirty="0">
                <a:latin typeface="Arial"/>
                <a:cs typeface="Arial"/>
              </a:rPr>
              <a:t>a</a:t>
            </a:r>
            <a:r>
              <a:rPr sz="3600" dirty="0">
                <a:latin typeface="Arial"/>
                <a:cs typeface="Arial"/>
              </a:rPr>
              <a:t> </a:t>
            </a:r>
            <a:r>
              <a:rPr sz="3600" spc="-265" dirty="0">
                <a:latin typeface="Arial"/>
                <a:cs typeface="Arial"/>
              </a:rPr>
              <a:t>sequence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of</a:t>
            </a:r>
            <a:r>
              <a:rPr sz="3600" spc="-95" dirty="0">
                <a:latin typeface="Arial"/>
                <a:cs typeface="Arial"/>
              </a:rPr>
              <a:t> </a:t>
            </a:r>
            <a:r>
              <a:rPr sz="3600" spc="-200" dirty="0">
                <a:latin typeface="Arial"/>
                <a:cs typeface="Arial"/>
              </a:rPr>
              <a:t>2.86</a:t>
            </a:r>
            <a:r>
              <a:rPr sz="3600" spc="-35" dirty="0">
                <a:latin typeface="Arial"/>
                <a:cs typeface="Arial"/>
              </a:rPr>
              <a:t> </a:t>
            </a:r>
            <a:r>
              <a:rPr sz="3600" spc="-65" dirty="0">
                <a:latin typeface="Arial"/>
                <a:cs typeface="Arial"/>
              </a:rPr>
              <a:t>billion </a:t>
            </a:r>
            <a:r>
              <a:rPr sz="3600" spc="-10" dirty="0">
                <a:latin typeface="Arial"/>
                <a:cs typeface="Arial"/>
              </a:rPr>
              <a:t>letters</a:t>
            </a:r>
            <a:endParaRPr sz="3600">
              <a:latin typeface="Arial"/>
              <a:cs typeface="Arial"/>
            </a:endParaRPr>
          </a:p>
          <a:p>
            <a:pPr marL="12700" marR="245745">
              <a:lnSpc>
                <a:spcPts val="4100"/>
              </a:lnSpc>
              <a:spcBef>
                <a:spcPts val="1450"/>
              </a:spcBef>
            </a:pPr>
            <a:r>
              <a:rPr sz="3600" spc="-235" dirty="0">
                <a:latin typeface="Arial"/>
                <a:cs typeface="Arial"/>
              </a:rPr>
              <a:t>enough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letters</a:t>
            </a:r>
            <a:r>
              <a:rPr sz="3600" spc="-130" dirty="0">
                <a:latin typeface="Arial"/>
                <a:cs typeface="Arial"/>
              </a:rPr>
              <a:t> </a:t>
            </a:r>
            <a:r>
              <a:rPr sz="3600" spc="90" dirty="0">
                <a:latin typeface="Arial"/>
                <a:cs typeface="Arial"/>
              </a:rPr>
              <a:t>to</a:t>
            </a:r>
            <a:r>
              <a:rPr sz="3600" spc="-6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fill</a:t>
            </a:r>
            <a:r>
              <a:rPr sz="3600" spc="-75" dirty="0">
                <a:latin typeface="Arial"/>
                <a:cs typeface="Arial"/>
              </a:rPr>
              <a:t> </a:t>
            </a:r>
            <a:r>
              <a:rPr sz="3600" spc="-530" dirty="0">
                <a:latin typeface="Arial"/>
                <a:cs typeface="Arial"/>
              </a:rPr>
              <a:t>a </a:t>
            </a:r>
            <a:r>
              <a:rPr sz="3600" spc="-60" dirty="0">
                <a:latin typeface="Arial"/>
                <a:cs typeface="Arial"/>
              </a:rPr>
              <a:t>million</a:t>
            </a:r>
            <a:r>
              <a:rPr sz="3600" spc="-190" dirty="0">
                <a:latin typeface="Arial"/>
                <a:cs typeface="Arial"/>
              </a:rPr>
              <a:t> </a:t>
            </a:r>
            <a:r>
              <a:rPr sz="3600" spc="-380" dirty="0">
                <a:latin typeface="Arial"/>
                <a:cs typeface="Arial"/>
              </a:rPr>
              <a:t>pages</a:t>
            </a:r>
            <a:r>
              <a:rPr sz="3600" dirty="0">
                <a:latin typeface="Arial"/>
                <a:cs typeface="Arial"/>
              </a:rPr>
              <a:t> of</a:t>
            </a:r>
            <a:r>
              <a:rPr sz="3600" spc="-65" dirty="0">
                <a:latin typeface="Arial"/>
                <a:cs typeface="Arial"/>
              </a:rPr>
              <a:t> </a:t>
            </a:r>
            <a:r>
              <a:rPr sz="3600" spc="-480" dirty="0">
                <a:latin typeface="Arial"/>
                <a:cs typeface="Arial"/>
              </a:rPr>
              <a:t>a</a:t>
            </a:r>
            <a:r>
              <a:rPr sz="3600" dirty="0">
                <a:latin typeface="Arial"/>
                <a:cs typeface="Arial"/>
              </a:rPr>
              <a:t> </a:t>
            </a:r>
            <a:r>
              <a:rPr sz="3600" spc="-120" dirty="0">
                <a:latin typeface="Arial"/>
                <a:cs typeface="Arial"/>
              </a:rPr>
              <a:t>typical </a:t>
            </a:r>
            <a:r>
              <a:rPr sz="3600" spc="-10" dirty="0">
                <a:latin typeface="Arial"/>
                <a:cs typeface="Arial"/>
              </a:rPr>
              <a:t>book.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7000" y="5245100"/>
            <a:ext cx="10177145" cy="36525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sz="1800" spc="-10" dirty="0">
                <a:latin typeface="Courier New"/>
                <a:cs typeface="Courier New"/>
              </a:rPr>
              <a:t>TATGGAGCCAGGTGCCTGGGGCAACAAGACTGTGGTCACTGAATTCATCCTTCTTGGTCTAACAGAGAACATAG AACTGCAATCCATCCTTTTTGCCATCTTCCTCTTTGCCTATGTGATCACAGTCGGGGGCAACTTGAGTATCCTG GCCGCCATCTTTGTGGAGCCCAAACTCCACACCCCCATGTACTACTTCCTGGGGAACCTTTCTCTGCTGGACAT TGGGTGCATCACTGTCACCATTCCTCCCATGCTGGCCTGTCTCCTGACCCACCAATGCCGGGTTCCCTATGCAG CCTGCATCTCACAGCTCTTCTTTTTCCACCTCCTGGCTGGAGTGGACTGTCACCTCCTGACAGCCATGGCCTAC GACCGCTACCTGGCCATTTGCCAGCCCCTCACCTATAGCATCCGCATGAGCCGTGACGTCCAGGGAGCCCTGGT GGCCGTCTGCTGCTCCATCTCCTTCATCAATGCTCTGACCCACACAGTGGCTGTGTCTGTGCTGGACTTCTGCG GCCCTAACGTGGTCAACCACTTCTACTGTGACCTCCCGCCCCTTTTCCAGCTCTCCTGCTCCAGCATCCACCTC AACGGGCAGCTACTTTTCGTGGGGGCCACCTTCATGGGGGTGGTCCCCATGGTCTTCATCTCGGTATCCTATGC CCACGTGGCAGCCGCAGTCCTGCGGATCCGCTCGGCAGAGGGCAGGAAGAAAGCCTTCTCCACGTGTGGCTCCC ACCTCACCGTGGTCTGCATCTTTTATGGAACCGGCTTCTTCAGCTACATGCGCCTGGGCTCCGTGTCCGCCTCA GACAAGGACAAGGGCATTGGCATCCTCAACACTGTCATCAGCCCCATGCTGAACCCACTCATCTACAGCCTCCG </a:t>
            </a:r>
            <a:r>
              <a:rPr sz="1800" dirty="0">
                <a:latin typeface="Courier New"/>
                <a:cs typeface="Courier New"/>
              </a:rPr>
              <a:t>GAACCCTGATGTGCAGGGCGCCCTGAAGAGGTTGCTGACAGGGAAGCGGCCCCCGGAGTG </a:t>
            </a:r>
            <a:r>
              <a:rPr sz="1800" spc="-25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4200" y="4641850"/>
            <a:ext cx="258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420" algn="l"/>
                <a:tab pos="1719580" algn="l"/>
              </a:tabLst>
            </a:pPr>
            <a:r>
              <a:rPr sz="2800" spc="-50" dirty="0">
                <a:latin typeface="Courier New"/>
                <a:cs typeface="Courier New"/>
              </a:rPr>
              <a:t>a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greet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many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1986" y="5741670"/>
            <a:ext cx="8903970" cy="10922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1719580" algn="l"/>
                <a:tab pos="2786380" algn="l"/>
              </a:tabLst>
            </a:pPr>
            <a:r>
              <a:rPr sz="2800" spc="-10" dirty="0">
                <a:latin typeface="Courier New"/>
                <a:cs typeface="Courier New"/>
              </a:rPr>
              <a:t>treated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with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respect.</a:t>
            </a:r>
            <a:endParaRPr sz="2800">
              <a:latin typeface="Courier New"/>
              <a:cs typeface="Courier New"/>
            </a:endParaRPr>
          </a:p>
          <a:p>
            <a:pPr marL="2915285">
              <a:lnSpc>
                <a:spcPct val="100000"/>
              </a:lnSpc>
              <a:spcBef>
                <a:spcPts val="840"/>
              </a:spcBef>
              <a:tabLst>
                <a:tab pos="4196080" algn="l"/>
                <a:tab pos="4836160" algn="l"/>
                <a:tab pos="5689600" algn="l"/>
                <a:tab pos="6756400" algn="l"/>
                <a:tab pos="7823834" algn="l"/>
              </a:tabLst>
            </a:pPr>
            <a:r>
              <a:rPr sz="2800" spc="-10" dirty="0">
                <a:latin typeface="Courier New"/>
                <a:cs typeface="Courier New"/>
              </a:rPr>
              <a:t>sti1l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had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very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long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claws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0900" y="4362450"/>
            <a:ext cx="17329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140" algn="l"/>
              </a:tabLst>
            </a:pPr>
            <a:r>
              <a:rPr sz="2800" spc="-25" dirty="0">
                <a:latin typeface="Courier New"/>
                <a:cs typeface="Courier New"/>
              </a:rPr>
              <a:t>Cat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only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500" y="4895850"/>
            <a:ext cx="11252835" cy="14046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8026400">
              <a:lnSpc>
                <a:spcPts val="3300"/>
              </a:lnSpc>
              <a:spcBef>
                <a:spcPts val="260"/>
              </a:spcBef>
              <a:tabLst>
                <a:tab pos="866140" algn="l"/>
                <a:tab pos="1719580" algn="l"/>
                <a:tab pos="2786380" algn="l"/>
                <a:tab pos="4493895" algn="l"/>
                <a:tab pos="5560695" algn="l"/>
                <a:tab pos="6200775" algn="l"/>
                <a:tab pos="7054215" algn="l"/>
                <a:tab pos="8679180" algn="l"/>
                <a:tab pos="10172700" algn="l"/>
              </a:tabLst>
            </a:pP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looked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good- </a:t>
            </a:r>
            <a:r>
              <a:rPr sz="2800" spc="-25" dirty="0">
                <a:latin typeface="Courier New"/>
                <a:cs typeface="Courier New"/>
              </a:rPr>
              <a:t>The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Cat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only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grinned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when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saw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Alice.</a:t>
            </a:r>
            <a:endParaRPr sz="2800">
              <a:latin typeface="Courier New"/>
              <a:cs typeface="Courier New"/>
            </a:endParaRPr>
          </a:p>
          <a:p>
            <a:pPr marL="889000">
              <a:lnSpc>
                <a:spcPct val="100000"/>
              </a:lnSpc>
              <a:spcBef>
                <a:spcPts val="740"/>
              </a:spcBef>
            </a:pPr>
            <a:r>
              <a:rPr sz="2800" spc="-25" dirty="0">
                <a:latin typeface="Courier New"/>
                <a:cs typeface="Courier New"/>
              </a:rPr>
              <a:t>be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700" y="2686050"/>
            <a:ext cx="11629390" cy="177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30"/>
              </a:lnSpc>
              <a:spcBef>
                <a:spcPts val="100"/>
              </a:spcBef>
              <a:tabLst>
                <a:tab pos="2999740" algn="l"/>
                <a:tab pos="3853179" algn="l"/>
                <a:tab pos="5774055" algn="l"/>
              </a:tabLst>
            </a:pPr>
            <a:r>
              <a:rPr sz="2800" dirty="0">
                <a:latin typeface="Courier New"/>
                <a:cs typeface="Courier New"/>
              </a:rPr>
              <a:t>good-</a:t>
            </a:r>
            <a:r>
              <a:rPr sz="2800" spc="-10" dirty="0">
                <a:latin typeface="Courier New"/>
                <a:cs typeface="Courier New"/>
              </a:rPr>
              <a:t>natured,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she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thought: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still</a:t>
            </a:r>
            <a:endParaRPr sz="2800">
              <a:latin typeface="Courier New"/>
              <a:cs typeface="Courier New"/>
            </a:endParaRPr>
          </a:p>
          <a:p>
            <a:pPr marL="4318000">
              <a:lnSpc>
                <a:spcPts val="3130"/>
              </a:lnSpc>
              <a:tabLst>
                <a:tab pos="5384800" algn="l"/>
                <a:tab pos="6024880" algn="l"/>
                <a:tab pos="6878320" algn="l"/>
                <a:tab pos="8371840" algn="l"/>
                <a:tab pos="9012555" algn="l"/>
              </a:tabLst>
            </a:pPr>
            <a:r>
              <a:rPr sz="2800" spc="-20" dirty="0">
                <a:latin typeface="Courier New"/>
                <a:cs typeface="Courier New"/>
              </a:rPr>
              <a:t>when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saw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Alice.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looked</a:t>
            </a:r>
            <a:endParaRPr sz="2800">
              <a:latin typeface="Courier New"/>
              <a:cs typeface="Courier New"/>
            </a:endParaRPr>
          </a:p>
          <a:p>
            <a:pPr marL="1828800">
              <a:lnSpc>
                <a:spcPct val="100000"/>
              </a:lnSpc>
              <a:spcBef>
                <a:spcPts val="340"/>
              </a:spcBef>
              <a:tabLst>
                <a:tab pos="3108960" algn="l"/>
                <a:tab pos="3749040" algn="l"/>
                <a:tab pos="4389120" algn="l"/>
              </a:tabLst>
            </a:pPr>
            <a:r>
              <a:rPr sz="2800" spc="-10" dirty="0">
                <a:latin typeface="Courier New"/>
                <a:cs typeface="Courier New"/>
              </a:rPr>
              <a:t>ought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to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be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treated</a:t>
            </a:r>
            <a:endParaRPr sz="2800">
              <a:latin typeface="Courier New"/>
              <a:cs typeface="Courier New"/>
            </a:endParaRPr>
          </a:p>
          <a:p>
            <a:pPr marL="4787900">
              <a:lnSpc>
                <a:spcPct val="100000"/>
              </a:lnSpc>
              <a:spcBef>
                <a:spcPts val="439"/>
              </a:spcBef>
              <a:tabLst>
                <a:tab pos="7774940" algn="l"/>
                <a:tab pos="8628380" algn="l"/>
                <a:tab pos="10549255" algn="l"/>
              </a:tabLst>
            </a:pPr>
            <a:r>
              <a:rPr sz="2800" dirty="0">
                <a:latin typeface="Courier New"/>
                <a:cs typeface="Courier New"/>
              </a:rPr>
              <a:t>good-</a:t>
            </a:r>
            <a:r>
              <a:rPr sz="2800" spc="-10" dirty="0">
                <a:latin typeface="Courier New"/>
                <a:cs typeface="Courier New"/>
              </a:rPr>
              <a:t>natured,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she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thought,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still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300" y="6826250"/>
            <a:ext cx="11951970" cy="224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885" algn="ctr">
              <a:lnSpc>
                <a:spcPct val="100000"/>
              </a:lnSpc>
              <a:spcBef>
                <a:spcPts val="100"/>
              </a:spcBef>
              <a:tabLst>
                <a:tab pos="1280160" algn="l"/>
                <a:tab pos="2133600" algn="l"/>
                <a:tab pos="2560320" algn="l"/>
                <a:tab pos="3840479" algn="l"/>
                <a:tab pos="4907915" algn="l"/>
                <a:tab pos="6401435" algn="l"/>
                <a:tab pos="7041515" algn="l"/>
              </a:tabLst>
            </a:pPr>
            <a:r>
              <a:rPr sz="2800" spc="-10" dirty="0">
                <a:latin typeface="Courier New"/>
                <a:cs typeface="Courier New"/>
              </a:rPr>
              <a:t>claws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and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a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great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many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teeth,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so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she</a:t>
            </a:r>
            <a:endParaRPr sz="2800">
              <a:latin typeface="Courier New"/>
              <a:cs typeface="Courier New"/>
            </a:endParaRPr>
          </a:p>
          <a:p>
            <a:pPr marL="6604000">
              <a:lnSpc>
                <a:spcPct val="100000"/>
              </a:lnSpc>
              <a:spcBef>
                <a:spcPts val="2840"/>
              </a:spcBef>
              <a:tabLst>
                <a:tab pos="7244080" algn="l"/>
                <a:tab pos="8097520" algn="l"/>
                <a:tab pos="9164320" algn="l"/>
                <a:tab pos="10231120" algn="l"/>
                <a:tab pos="10871835" algn="l"/>
              </a:tabLst>
            </a:pPr>
            <a:r>
              <a:rPr sz="2800" spc="-25" dirty="0">
                <a:latin typeface="Courier New"/>
                <a:cs typeface="Courier New"/>
              </a:rPr>
              <a:t>so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she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felt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that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ought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  <a:tabLst>
                <a:tab pos="2539365" algn="l"/>
                <a:tab pos="5096510" algn="l"/>
                <a:tab pos="5716905" algn="l"/>
                <a:tab pos="9127490" algn="l"/>
              </a:tabLst>
            </a:pPr>
            <a:r>
              <a:rPr sz="4200" spc="-10" dirty="0">
                <a:solidFill>
                  <a:srgbClr val="0056D6"/>
                </a:solidFill>
                <a:latin typeface="Arial"/>
                <a:cs typeface="Arial"/>
              </a:rPr>
              <a:t>Algorithms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225" dirty="0">
                <a:solidFill>
                  <a:srgbClr val="0056D6"/>
                </a:solidFill>
                <a:latin typeface="Arial"/>
                <a:cs typeface="Arial"/>
              </a:rPr>
              <a:t>are</a:t>
            </a:r>
            <a:r>
              <a:rPr sz="4200" spc="-5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95" dirty="0">
                <a:solidFill>
                  <a:srgbClr val="0056D6"/>
                </a:solidFill>
                <a:latin typeface="Arial"/>
                <a:cs typeface="Arial"/>
              </a:rPr>
              <a:t>needed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80" dirty="0">
                <a:solidFill>
                  <a:srgbClr val="0056D6"/>
                </a:solidFill>
                <a:latin typeface="Arial"/>
                <a:cs typeface="Arial"/>
              </a:rPr>
              <a:t>to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240" dirty="0">
                <a:solidFill>
                  <a:srgbClr val="0056D6"/>
                </a:solidFill>
                <a:latin typeface="Arial"/>
                <a:cs typeface="Arial"/>
              </a:rPr>
              <a:t>piece</a:t>
            </a:r>
            <a:r>
              <a:rPr sz="4200" spc="-5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40" dirty="0">
                <a:solidFill>
                  <a:srgbClr val="0056D6"/>
                </a:solidFill>
                <a:latin typeface="Arial"/>
                <a:cs typeface="Arial"/>
              </a:rPr>
              <a:t>the</a:t>
            </a:r>
            <a:r>
              <a:rPr sz="4200" spc="-210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56D6"/>
                </a:solidFill>
                <a:latin typeface="Arial"/>
                <a:cs typeface="Arial"/>
              </a:rPr>
              <a:t>story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55" dirty="0">
                <a:solidFill>
                  <a:srgbClr val="0056D6"/>
                </a:solidFill>
                <a:latin typeface="Arial"/>
                <a:cs typeface="Arial"/>
              </a:rPr>
              <a:t>together.</a:t>
            </a:r>
            <a:endParaRPr sz="4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50422" y="552450"/>
            <a:ext cx="8826500" cy="12877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340"/>
              </a:spcBef>
              <a:tabLst>
                <a:tab pos="2682875" algn="l"/>
                <a:tab pos="2854325" algn="l"/>
                <a:tab pos="3958590" algn="l"/>
                <a:tab pos="8032115" algn="l"/>
              </a:tabLst>
            </a:pPr>
            <a:r>
              <a:rPr sz="4200" spc="-30" dirty="0">
                <a:solidFill>
                  <a:srgbClr val="0056D6"/>
                </a:solidFill>
                <a:latin typeface="Arial"/>
                <a:cs typeface="Arial"/>
              </a:rPr>
              <a:t>We</a:t>
            </a:r>
            <a:r>
              <a:rPr sz="4200" spc="-250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370" dirty="0">
                <a:solidFill>
                  <a:srgbClr val="0056D6"/>
                </a:solidFill>
                <a:latin typeface="Arial"/>
                <a:cs typeface="Arial"/>
              </a:rPr>
              <a:t>can</a:t>
            </a:r>
            <a:r>
              <a:rPr sz="4200" spc="-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0" dirty="0">
                <a:solidFill>
                  <a:srgbClr val="0056D6"/>
                </a:solidFill>
                <a:latin typeface="Arial"/>
                <a:cs typeface="Arial"/>
              </a:rPr>
              <a:t>only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20" dirty="0">
                <a:solidFill>
                  <a:srgbClr val="0056D6"/>
                </a:solidFill>
                <a:latin typeface="Arial"/>
                <a:cs typeface="Arial"/>
              </a:rPr>
              <a:t>read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~</a:t>
            </a:r>
            <a:r>
              <a:rPr sz="4200" spc="-1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60" dirty="0">
                <a:solidFill>
                  <a:srgbClr val="0056D6"/>
                </a:solidFill>
                <a:latin typeface="Arial"/>
                <a:cs typeface="Arial"/>
              </a:rPr>
              <a:t>1000</a:t>
            </a:r>
            <a:r>
              <a:rPr sz="4200" spc="-10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65" dirty="0">
                <a:solidFill>
                  <a:srgbClr val="0056D6"/>
                </a:solidFill>
                <a:latin typeface="Arial"/>
                <a:cs typeface="Arial"/>
              </a:rPr>
              <a:t>characters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50" dirty="0">
                <a:solidFill>
                  <a:srgbClr val="0056D6"/>
                </a:solidFill>
                <a:latin typeface="Arial"/>
                <a:cs typeface="Arial"/>
              </a:rPr>
              <a:t>at</a:t>
            </a:r>
            <a:r>
              <a:rPr sz="4200" spc="-23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615" dirty="0">
                <a:solidFill>
                  <a:srgbClr val="0056D6"/>
                </a:solidFill>
                <a:latin typeface="Arial"/>
                <a:cs typeface="Arial"/>
              </a:rPr>
              <a:t>a </a:t>
            </a:r>
            <a:r>
              <a:rPr sz="4200" spc="-55" dirty="0">
                <a:solidFill>
                  <a:srgbClr val="0056D6"/>
                </a:solidFill>
                <a:latin typeface="Arial"/>
                <a:cs typeface="Arial"/>
              </a:rPr>
              <a:t>time</a:t>
            </a:r>
            <a:r>
              <a:rPr sz="4200" spc="-240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from</a:t>
            </a:r>
            <a:r>
              <a:rPr sz="4200" spc="-26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615" dirty="0">
                <a:solidFill>
                  <a:srgbClr val="0056D6"/>
                </a:solidFill>
                <a:latin typeface="Arial"/>
                <a:cs typeface="Arial"/>
              </a:rPr>
              <a:t>a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160" dirty="0">
                <a:solidFill>
                  <a:srgbClr val="0056D6"/>
                </a:solidFill>
                <a:latin typeface="Arial"/>
                <a:cs typeface="Arial"/>
              </a:rPr>
              <a:t>random</a:t>
            </a:r>
            <a:r>
              <a:rPr sz="4200" spc="-114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95" dirty="0">
                <a:solidFill>
                  <a:srgbClr val="0056D6"/>
                </a:solidFill>
                <a:latin typeface="Arial"/>
                <a:cs typeface="Arial"/>
              </a:rPr>
              <a:t>place:</a:t>
            </a:r>
            <a:endParaRPr sz="4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074400" y="127000"/>
            <a:ext cx="1676400" cy="2590800"/>
            <a:chOff x="11074400" y="127000"/>
            <a:chExt cx="1676400" cy="25908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4400" y="127000"/>
              <a:ext cx="1676400" cy="2590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0600" y="203200"/>
              <a:ext cx="1422400" cy="2336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8500" y="7023100"/>
            <a:ext cx="3403600" cy="2133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000" y="819150"/>
            <a:ext cx="834961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876300" marR="5080" indent="-863600">
              <a:lnSpc>
                <a:spcPct val="71400"/>
              </a:lnSpc>
              <a:spcBef>
                <a:spcPts val="1060"/>
              </a:spcBef>
              <a:tabLst>
                <a:tab pos="866140" algn="l"/>
                <a:tab pos="1719580" algn="l"/>
                <a:tab pos="2786380" algn="l"/>
                <a:tab pos="4493895" algn="l"/>
                <a:tab pos="5560695" algn="l"/>
                <a:tab pos="6200775" algn="l"/>
                <a:tab pos="7054215" algn="l"/>
              </a:tabLst>
            </a:pP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The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Cat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000000"/>
                </a:solidFill>
                <a:latin typeface="Courier New"/>
                <a:cs typeface="Courier New"/>
              </a:rPr>
              <a:t>only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10" dirty="0">
                <a:solidFill>
                  <a:srgbClr val="000000"/>
                </a:solidFill>
                <a:latin typeface="Courier New"/>
                <a:cs typeface="Courier New"/>
              </a:rPr>
              <a:t>grinned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000000"/>
                </a:solidFill>
                <a:latin typeface="Courier New"/>
                <a:cs typeface="Courier New"/>
              </a:rPr>
              <a:t>when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it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saw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10" dirty="0">
                <a:solidFill>
                  <a:srgbClr val="000000"/>
                </a:solidFill>
                <a:latin typeface="Courier New"/>
                <a:cs typeface="Courier New"/>
              </a:rPr>
              <a:t>Alice. </a:t>
            </a: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Cat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16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only		</a:t>
            </a:r>
            <a:r>
              <a:rPr sz="2800" spc="-20" dirty="0">
                <a:solidFill>
                  <a:srgbClr val="000000"/>
                </a:solidFill>
                <a:latin typeface="Courier New"/>
                <a:cs typeface="Courier New"/>
              </a:rPr>
              <a:t>when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it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000000"/>
                </a:solidFill>
                <a:latin typeface="Courier New"/>
                <a:cs typeface="Courier New"/>
              </a:rPr>
              <a:t>saw</a:t>
            </a: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2800" spc="-10" dirty="0">
                <a:solidFill>
                  <a:srgbClr val="000000"/>
                </a:solidFill>
                <a:latin typeface="Courier New"/>
                <a:cs typeface="Courier New"/>
              </a:rPr>
              <a:t>Alice.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6700" y="1123950"/>
            <a:ext cx="322643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ts val="3080"/>
              </a:lnSpc>
              <a:spcBef>
                <a:spcPts val="100"/>
              </a:spcBef>
              <a:tabLst>
                <a:tab pos="668655" algn="l"/>
              </a:tabLst>
            </a:pP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looked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080"/>
              </a:lnSpc>
              <a:tabLst>
                <a:tab pos="652780" algn="l"/>
                <a:tab pos="2146300" algn="l"/>
              </a:tabLst>
            </a:pP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looked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good-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500" y="2279650"/>
            <a:ext cx="2799715" cy="7442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500"/>
              </a:lnSpc>
              <a:spcBef>
                <a:spcPts val="1155"/>
              </a:spcBef>
            </a:pPr>
            <a:r>
              <a:rPr sz="2800" dirty="0">
                <a:latin typeface="Courier New"/>
                <a:cs typeface="Courier New"/>
              </a:rPr>
              <a:t>good-</a:t>
            </a:r>
            <a:r>
              <a:rPr sz="2800" spc="-10" dirty="0">
                <a:latin typeface="Courier New"/>
                <a:cs typeface="Courier New"/>
              </a:rPr>
              <a:t>natured, </a:t>
            </a:r>
            <a:r>
              <a:rPr sz="2800" dirty="0">
                <a:latin typeface="Courier New"/>
                <a:cs typeface="Courier New"/>
              </a:rPr>
              <a:t>good-</a:t>
            </a:r>
            <a:r>
              <a:rPr sz="2800" spc="-10" dirty="0">
                <a:latin typeface="Courier New"/>
                <a:cs typeface="Courier New"/>
              </a:rPr>
              <a:t>natured,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9037" y="2279650"/>
            <a:ext cx="2586355" cy="7442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500"/>
              </a:lnSpc>
              <a:spcBef>
                <a:spcPts val="1155"/>
              </a:spcBef>
              <a:tabLst>
                <a:tab pos="866140" algn="l"/>
              </a:tabLst>
            </a:pPr>
            <a:r>
              <a:rPr sz="2800" spc="-25" dirty="0">
                <a:latin typeface="Courier New"/>
                <a:cs typeface="Courier New"/>
              </a:rPr>
              <a:t>she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thought: </a:t>
            </a:r>
            <a:r>
              <a:rPr sz="2800" spc="-25" dirty="0">
                <a:latin typeface="Courier New"/>
                <a:cs typeface="Courier New"/>
              </a:rPr>
              <a:t>she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thought,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33180" y="2279650"/>
            <a:ext cx="1096645" cy="117602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8890">
              <a:lnSpc>
                <a:spcPct val="68500"/>
              </a:lnSpc>
              <a:spcBef>
                <a:spcPts val="1155"/>
              </a:spcBef>
            </a:pPr>
            <a:r>
              <a:rPr sz="2800" spc="-10" dirty="0">
                <a:latin typeface="Courier New"/>
                <a:cs typeface="Courier New"/>
              </a:rPr>
              <a:t>still still</a:t>
            </a:r>
            <a:endParaRPr sz="28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latin typeface="Courier New"/>
                <a:cs typeface="Courier New"/>
              </a:rPr>
              <a:t>sti1l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7673" y="3003550"/>
            <a:ext cx="47205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780" algn="l"/>
                <a:tab pos="1506220" algn="l"/>
                <a:tab pos="2573020" algn="l"/>
                <a:tab pos="3639820" algn="l"/>
              </a:tabLst>
            </a:pPr>
            <a:r>
              <a:rPr sz="2800" spc="-25" dirty="0">
                <a:latin typeface="Courier New"/>
                <a:cs typeface="Courier New"/>
              </a:rPr>
              <a:t>it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had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very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long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claws</a:t>
            </a:r>
            <a:endParaRPr sz="28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5150" y="3891160"/>
          <a:ext cx="11828140" cy="727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7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27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74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7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058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31750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claws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and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70"/>
                        </a:lnSpc>
                      </a:pPr>
                      <a:r>
                        <a:rPr sz="2800" spc="-50" dirty="0">
                          <a:latin typeface="Courier New"/>
                          <a:cs typeface="Courier New"/>
                        </a:rPr>
                        <a:t>a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great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670"/>
                        </a:lnSpc>
                      </a:pPr>
                      <a:r>
                        <a:rPr sz="2800" spc="-20" dirty="0">
                          <a:latin typeface="Courier New"/>
                          <a:cs typeface="Courier New"/>
                        </a:rPr>
                        <a:t>many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teeth,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so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she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2670"/>
                        </a:lnSpc>
                      </a:pPr>
                      <a:r>
                        <a:rPr sz="2800" spc="-50" dirty="0">
                          <a:latin typeface="Courier New"/>
                          <a:cs typeface="Courier New"/>
                        </a:rPr>
                        <a:t>a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greet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670"/>
                        </a:lnSpc>
                      </a:pPr>
                      <a:r>
                        <a:rPr sz="2800" spc="-20" dirty="0">
                          <a:latin typeface="Courier New"/>
                          <a:cs typeface="Courier New"/>
                        </a:rPr>
                        <a:t>many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so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she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670"/>
                        </a:lnSpc>
                      </a:pPr>
                      <a:r>
                        <a:rPr sz="2800" spc="-20" dirty="0">
                          <a:latin typeface="Courier New"/>
                          <a:cs typeface="Courier New"/>
                        </a:rPr>
                        <a:t>felt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670"/>
                        </a:lnSpc>
                      </a:pPr>
                      <a:r>
                        <a:rPr sz="2800" spc="-20" dirty="0">
                          <a:latin typeface="Courier New"/>
                          <a:cs typeface="Courier New"/>
                        </a:rPr>
                        <a:t>that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it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ought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8650" y="5199260"/>
          <a:ext cx="7114540" cy="77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1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5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31750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ought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to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7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be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67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treated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920"/>
                        </a:lnSpc>
                      </a:pPr>
                      <a:r>
                        <a:rPr sz="2800" spc="-25" dirty="0">
                          <a:latin typeface="Courier New"/>
                          <a:cs typeface="Courier New"/>
                        </a:rPr>
                        <a:t>be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92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treated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920"/>
                        </a:lnSpc>
                      </a:pPr>
                      <a:r>
                        <a:rPr sz="2800" spc="-20" dirty="0">
                          <a:latin typeface="Courier New"/>
                          <a:cs typeface="Courier New"/>
                        </a:rPr>
                        <a:t>with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920"/>
                        </a:lnSpc>
                      </a:pPr>
                      <a:r>
                        <a:rPr sz="2800" spc="-10" dirty="0">
                          <a:latin typeface="Courier New"/>
                          <a:cs typeface="Courier New"/>
                        </a:rPr>
                        <a:t>respect.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274248" y="7410450"/>
            <a:ext cx="3606800" cy="12877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marR="5080" indent="-330200">
              <a:lnSpc>
                <a:spcPts val="4900"/>
              </a:lnSpc>
              <a:spcBef>
                <a:spcPts val="340"/>
              </a:spcBef>
            </a:pPr>
            <a:r>
              <a:rPr sz="4200" spc="-185" dirty="0">
                <a:solidFill>
                  <a:srgbClr val="0056D6"/>
                </a:solidFill>
                <a:latin typeface="Arial"/>
                <a:cs typeface="Arial"/>
              </a:rPr>
              <a:t>...except</a:t>
            </a:r>
            <a:r>
              <a:rPr sz="4200" spc="-90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with</a:t>
            </a:r>
            <a:r>
              <a:rPr sz="4200" spc="-90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85" dirty="0">
                <a:solidFill>
                  <a:srgbClr val="0056D6"/>
                </a:solidFill>
                <a:latin typeface="Arial"/>
                <a:cs typeface="Arial"/>
              </a:rPr>
              <a:t>35 </a:t>
            </a:r>
            <a:r>
              <a:rPr sz="4200" spc="-65" dirty="0">
                <a:solidFill>
                  <a:srgbClr val="0056D6"/>
                </a:solidFill>
                <a:latin typeface="Arial"/>
                <a:cs typeface="Arial"/>
              </a:rPr>
              <a:t>million</a:t>
            </a:r>
            <a:r>
              <a:rPr sz="4200" spc="-22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95" dirty="0">
                <a:solidFill>
                  <a:srgbClr val="0056D6"/>
                </a:solidFill>
                <a:latin typeface="Arial"/>
                <a:cs typeface="Arial"/>
              </a:rPr>
              <a:t>pieces</a:t>
            </a:r>
            <a:endParaRPr sz="4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764" y="7410450"/>
            <a:ext cx="2399030" cy="12877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36575" marR="5080" indent="-524510">
              <a:lnSpc>
                <a:spcPts val="4900"/>
              </a:lnSpc>
              <a:spcBef>
                <a:spcPts val="340"/>
              </a:spcBef>
              <a:tabLst>
                <a:tab pos="750570" algn="l"/>
                <a:tab pos="1126490" algn="l"/>
              </a:tabLst>
            </a:pPr>
            <a:r>
              <a:rPr sz="4200" spc="-20" dirty="0">
                <a:solidFill>
                  <a:srgbClr val="0056D6"/>
                </a:solidFill>
                <a:latin typeface="Arial"/>
                <a:cs typeface="Arial"/>
              </a:rPr>
              <a:t>It’s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615" dirty="0">
                <a:solidFill>
                  <a:srgbClr val="0056D6"/>
                </a:solidFill>
                <a:latin typeface="Arial"/>
                <a:cs typeface="Arial"/>
              </a:rPr>
              <a:t>a</a:t>
            </a:r>
            <a:r>
              <a:rPr sz="4200" dirty="0">
                <a:solidFill>
                  <a:srgbClr val="0056D6"/>
                </a:solidFill>
                <a:latin typeface="Arial"/>
                <a:cs typeface="Arial"/>
              </a:rPr>
              <a:t>	</a:t>
            </a:r>
            <a:r>
              <a:rPr sz="4200" spc="-320" dirty="0">
                <a:solidFill>
                  <a:srgbClr val="0056D6"/>
                </a:solidFill>
                <a:latin typeface="Arial"/>
                <a:cs typeface="Arial"/>
              </a:rPr>
              <a:t>jigsaw </a:t>
            </a:r>
            <a:r>
              <a:rPr sz="4200" spc="-275" dirty="0">
                <a:solidFill>
                  <a:srgbClr val="0056D6"/>
                </a:solidFill>
                <a:latin typeface="Arial"/>
                <a:cs typeface="Arial"/>
              </a:rPr>
              <a:t>puzzle</a:t>
            </a:r>
            <a:r>
              <a:rPr sz="4200" spc="1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4200" spc="-220" dirty="0">
                <a:solidFill>
                  <a:srgbClr val="0056D6"/>
                </a:solidFill>
                <a:latin typeface="Arial"/>
                <a:cs typeface="Arial"/>
              </a:rPr>
              <a:t>...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3122" y="393700"/>
            <a:ext cx="64382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0425" algn="l"/>
                <a:tab pos="4889500" algn="l"/>
              </a:tabLst>
            </a:pPr>
            <a:r>
              <a:rPr spc="190" dirty="0"/>
              <a:t>Recent</a:t>
            </a:r>
            <a:r>
              <a:rPr dirty="0"/>
              <a:t>	</a:t>
            </a:r>
            <a:r>
              <a:rPr spc="50" dirty="0"/>
              <a:t>Genomics</a:t>
            </a:r>
            <a:r>
              <a:rPr dirty="0"/>
              <a:t>	</a:t>
            </a:r>
            <a:r>
              <a:rPr spc="45" dirty="0"/>
              <a:t>(DNA)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700" y="18769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200" y="2057400"/>
            <a:ext cx="5267325" cy="65913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249554" algn="just">
              <a:lnSpc>
                <a:spcPts val="3500"/>
              </a:lnSpc>
              <a:spcBef>
                <a:spcPts val="300"/>
              </a:spcBef>
            </a:pPr>
            <a:r>
              <a:rPr sz="3000" spc="-70" dirty="0">
                <a:latin typeface="Arial"/>
                <a:cs typeface="Arial"/>
              </a:rPr>
              <a:t>First</a:t>
            </a:r>
            <a:r>
              <a:rPr sz="3000" spc="-140" dirty="0">
                <a:latin typeface="Arial"/>
                <a:cs typeface="Arial"/>
              </a:rPr>
              <a:t> </a:t>
            </a:r>
            <a:r>
              <a:rPr sz="3000" spc="-200" dirty="0">
                <a:latin typeface="Arial"/>
                <a:cs typeface="Arial"/>
              </a:rPr>
              <a:t>genome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220" dirty="0">
                <a:latin typeface="Arial"/>
                <a:cs typeface="Arial"/>
              </a:rPr>
              <a:t>sequenced</a:t>
            </a:r>
            <a:r>
              <a:rPr sz="3000" spc="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135" dirty="0">
                <a:latin typeface="Arial"/>
                <a:cs typeface="Arial"/>
              </a:rPr>
              <a:t> 1995 </a:t>
            </a:r>
            <a:r>
              <a:rPr sz="3000" spc="-40" dirty="0">
                <a:latin typeface="Arial"/>
                <a:cs typeface="Arial"/>
              </a:rPr>
              <a:t>(the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130" dirty="0">
                <a:latin typeface="Arial"/>
                <a:cs typeface="Arial"/>
              </a:rPr>
              <a:t>bacteria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i="1" spc="-434" dirty="0">
                <a:latin typeface="Arial"/>
                <a:cs typeface="Arial"/>
              </a:rPr>
              <a:t>H.</a:t>
            </a:r>
            <a:r>
              <a:rPr sz="3000" i="1" spc="225" dirty="0">
                <a:latin typeface="Arial"/>
                <a:cs typeface="Arial"/>
              </a:rPr>
              <a:t> </a:t>
            </a:r>
            <a:r>
              <a:rPr sz="3000" i="1" spc="-220" dirty="0">
                <a:latin typeface="Arial"/>
                <a:cs typeface="Arial"/>
              </a:rPr>
              <a:t>influenzae</a:t>
            </a:r>
            <a:r>
              <a:rPr sz="3000" i="1" spc="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30" dirty="0">
                <a:latin typeface="Arial"/>
                <a:cs typeface="Arial"/>
              </a:rPr>
              <a:t> </a:t>
            </a:r>
            <a:r>
              <a:rPr sz="3000" spc="-434" dirty="0">
                <a:latin typeface="Arial"/>
                <a:cs typeface="Arial"/>
              </a:rPr>
              <a:t>a </a:t>
            </a:r>
            <a:r>
              <a:rPr sz="3000" spc="-200" dirty="0">
                <a:latin typeface="Arial"/>
                <a:cs typeface="Arial"/>
              </a:rPr>
              <a:t>genome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175" dirty="0">
                <a:latin typeface="Arial"/>
                <a:cs typeface="Arial"/>
              </a:rPr>
              <a:t>1,830,140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letters).</a:t>
            </a:r>
            <a:endParaRPr sz="3000">
              <a:latin typeface="Arial"/>
              <a:cs typeface="Arial"/>
            </a:endParaRPr>
          </a:p>
          <a:p>
            <a:pPr marL="12700" marR="1042035" algn="just">
              <a:lnSpc>
                <a:spcPts val="3500"/>
              </a:lnSpc>
              <a:spcBef>
                <a:spcPts val="2400"/>
              </a:spcBef>
            </a:pPr>
            <a:r>
              <a:rPr sz="3000" spc="-95" dirty="0">
                <a:latin typeface="Arial"/>
                <a:cs typeface="Arial"/>
              </a:rPr>
              <a:t>1st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draft</a:t>
            </a:r>
            <a:r>
              <a:rPr sz="3000" spc="-1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225" dirty="0">
                <a:latin typeface="Arial"/>
                <a:cs typeface="Arial"/>
              </a:rPr>
              <a:t>human</a:t>
            </a:r>
            <a:r>
              <a:rPr sz="3000" spc="1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genome </a:t>
            </a:r>
            <a:r>
              <a:rPr sz="3000" spc="-135" dirty="0">
                <a:latin typeface="Arial"/>
                <a:cs typeface="Arial"/>
              </a:rPr>
              <a:t>finished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2001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(~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3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spc="-40" dirty="0">
                <a:latin typeface="Arial"/>
                <a:cs typeface="Arial"/>
              </a:rPr>
              <a:t>billion </a:t>
            </a:r>
            <a:r>
              <a:rPr sz="3000" spc="-10" dirty="0">
                <a:latin typeface="Arial"/>
                <a:cs typeface="Arial"/>
              </a:rPr>
              <a:t>letters)</a:t>
            </a:r>
            <a:endParaRPr sz="3000">
              <a:latin typeface="Arial"/>
              <a:cs typeface="Arial"/>
            </a:endParaRPr>
          </a:p>
          <a:p>
            <a:pPr marL="12700" marR="1227455" algn="just">
              <a:lnSpc>
                <a:spcPts val="3500"/>
              </a:lnSpc>
              <a:spcBef>
                <a:spcPts val="2400"/>
              </a:spcBef>
            </a:pPr>
            <a:r>
              <a:rPr sz="3000" spc="-65" dirty="0">
                <a:latin typeface="Arial"/>
                <a:cs typeface="Arial"/>
              </a:rPr>
              <a:t>Now:</a:t>
            </a:r>
            <a:r>
              <a:rPr sz="3000" spc="-1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Over</a:t>
            </a:r>
            <a:r>
              <a:rPr sz="3000" spc="-195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1100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bacterial </a:t>
            </a:r>
            <a:r>
              <a:rPr sz="3000" spc="-90" dirty="0">
                <a:latin typeface="Arial"/>
                <a:cs typeface="Arial"/>
              </a:rPr>
              <a:t>genomes</a:t>
            </a:r>
            <a:endParaRPr sz="3000">
              <a:latin typeface="Arial"/>
              <a:cs typeface="Arial"/>
            </a:endParaRPr>
          </a:p>
          <a:p>
            <a:pPr marL="12700" marR="634365">
              <a:lnSpc>
                <a:spcPts val="3500"/>
              </a:lnSpc>
              <a:spcBef>
                <a:spcPts val="2400"/>
              </a:spcBef>
            </a:pPr>
            <a:r>
              <a:rPr sz="3000" spc="-135" dirty="0">
                <a:latin typeface="Arial"/>
                <a:cs typeface="Arial"/>
              </a:rPr>
              <a:t>Hundreds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spc="-165" dirty="0">
                <a:latin typeface="Arial"/>
                <a:cs typeface="Arial"/>
              </a:rPr>
              <a:t>higher-</a:t>
            </a:r>
            <a:r>
              <a:rPr sz="3000" spc="-10" dirty="0">
                <a:latin typeface="Arial"/>
                <a:cs typeface="Arial"/>
              </a:rPr>
              <a:t>order </a:t>
            </a:r>
            <a:r>
              <a:rPr sz="3000" spc="-229" dirty="0">
                <a:latin typeface="Arial"/>
                <a:cs typeface="Arial"/>
              </a:rPr>
              <a:t>genomes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30" dirty="0">
                <a:latin typeface="Arial"/>
                <a:cs typeface="Arial"/>
              </a:rPr>
              <a:t>done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80" dirty="0">
                <a:latin typeface="Arial"/>
                <a:cs typeface="Arial"/>
              </a:rPr>
              <a:t>or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progress.</a:t>
            </a:r>
            <a:endParaRPr sz="3000">
              <a:latin typeface="Arial"/>
              <a:cs typeface="Arial"/>
            </a:endParaRPr>
          </a:p>
          <a:p>
            <a:pPr marL="12700" marR="5080">
              <a:lnSpc>
                <a:spcPts val="3500"/>
              </a:lnSpc>
              <a:spcBef>
                <a:spcPts val="2400"/>
              </a:spcBef>
            </a:pPr>
            <a:r>
              <a:rPr sz="3000" spc="-240" dirty="0">
                <a:latin typeface="Arial"/>
                <a:cs typeface="Arial"/>
              </a:rPr>
              <a:t>Several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complete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215" dirty="0">
                <a:latin typeface="Arial"/>
                <a:cs typeface="Arial"/>
              </a:rPr>
              <a:t>human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210" dirty="0">
                <a:latin typeface="Arial"/>
                <a:cs typeface="Arial"/>
              </a:rPr>
              <a:t>genomes </a:t>
            </a:r>
            <a:r>
              <a:rPr sz="3000" spc="-40" dirty="0">
                <a:latin typeface="Arial"/>
                <a:cs typeface="Arial"/>
              </a:rPr>
              <a:t>finished.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8700" y="3515245"/>
            <a:ext cx="256540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8700" y="4741557"/>
            <a:ext cx="256540" cy="3606800"/>
          </a:xfrm>
          <a:prstGeom prst="rect">
            <a:avLst/>
          </a:prstGeom>
        </p:spPr>
        <p:txBody>
          <a:bodyPr vert="horz" wrap="square" lIns="0" tIns="428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75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79"/>
              </a:spcBef>
            </a:pPr>
            <a:r>
              <a:rPr sz="5100" spc="-50" dirty="0">
                <a:latin typeface="Arial"/>
                <a:cs typeface="Arial"/>
              </a:rPr>
              <a:t>•</a:t>
            </a:r>
            <a:endParaRPr sz="5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214" y="2517004"/>
            <a:ext cx="5139742" cy="5345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6878" y="490243"/>
            <a:ext cx="2938780" cy="2545080"/>
            <a:chOff x="446878" y="490243"/>
            <a:chExt cx="2938780" cy="2545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099" y="622300"/>
              <a:ext cx="2730500" cy="2311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6878" y="490243"/>
              <a:ext cx="2938780" cy="2545080"/>
            </a:xfrm>
            <a:custGeom>
              <a:avLst/>
              <a:gdLst/>
              <a:ahLst/>
              <a:cxnLst/>
              <a:rect l="l" t="t" r="r" b="b"/>
              <a:pathLst>
                <a:path w="2938779" h="2545080">
                  <a:moveTo>
                    <a:pt x="0" y="132056"/>
                  </a:moveTo>
                  <a:lnTo>
                    <a:pt x="2907917" y="132056"/>
                  </a:lnTo>
                </a:path>
                <a:path w="2938779" h="2545080">
                  <a:moveTo>
                    <a:pt x="2829721" y="49097"/>
                  </a:moveTo>
                  <a:lnTo>
                    <a:pt x="2829721" y="2545028"/>
                  </a:lnTo>
                </a:path>
                <a:path w="2938779" h="2545080">
                  <a:moveTo>
                    <a:pt x="2938689" y="2446744"/>
                  </a:moveTo>
                  <a:lnTo>
                    <a:pt x="19599" y="2446744"/>
                  </a:lnTo>
                </a:path>
                <a:path w="2938779" h="2545080">
                  <a:moveTo>
                    <a:pt x="99221" y="2522273"/>
                  </a:moveTo>
                  <a:lnTo>
                    <a:pt x="9922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21478" y="3284244"/>
            <a:ext cx="3002280" cy="3151505"/>
            <a:chOff x="421478" y="3284244"/>
            <a:chExt cx="3002280" cy="31515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699" y="3416299"/>
              <a:ext cx="2794000" cy="2921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478" y="3284244"/>
              <a:ext cx="3002280" cy="3151505"/>
            </a:xfrm>
            <a:custGeom>
              <a:avLst/>
              <a:gdLst/>
              <a:ahLst/>
              <a:cxnLst/>
              <a:rect l="l" t="t" r="r" b="b"/>
              <a:pathLst>
                <a:path w="3002279" h="3151504">
                  <a:moveTo>
                    <a:pt x="0" y="132055"/>
                  </a:moveTo>
                  <a:lnTo>
                    <a:pt x="2971417" y="132055"/>
                  </a:lnTo>
                </a:path>
                <a:path w="3002279" h="3151504">
                  <a:moveTo>
                    <a:pt x="2893221" y="49096"/>
                  </a:moveTo>
                  <a:lnTo>
                    <a:pt x="2893221" y="3151339"/>
                  </a:lnTo>
                </a:path>
                <a:path w="3002279" h="3151504">
                  <a:moveTo>
                    <a:pt x="3002189" y="3053055"/>
                  </a:moveTo>
                  <a:lnTo>
                    <a:pt x="19599" y="3053055"/>
                  </a:lnTo>
                </a:path>
                <a:path w="3002279" h="3151504">
                  <a:moveTo>
                    <a:pt x="99221" y="3128585"/>
                  </a:moveTo>
                  <a:lnTo>
                    <a:pt x="9922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21478" y="6764044"/>
            <a:ext cx="3002280" cy="2326005"/>
            <a:chOff x="421478" y="6764044"/>
            <a:chExt cx="3002280" cy="23260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699" y="6896100"/>
              <a:ext cx="2794000" cy="209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1478" y="6764044"/>
              <a:ext cx="3002280" cy="2326005"/>
            </a:xfrm>
            <a:custGeom>
              <a:avLst/>
              <a:gdLst/>
              <a:ahLst/>
              <a:cxnLst/>
              <a:rect l="l" t="t" r="r" b="b"/>
              <a:pathLst>
                <a:path w="3002279" h="2326004">
                  <a:moveTo>
                    <a:pt x="0" y="132055"/>
                  </a:moveTo>
                  <a:lnTo>
                    <a:pt x="2971417" y="132055"/>
                  </a:lnTo>
                </a:path>
                <a:path w="3002279" h="2326004">
                  <a:moveTo>
                    <a:pt x="2893221" y="49096"/>
                  </a:moveTo>
                  <a:lnTo>
                    <a:pt x="2893221" y="2325841"/>
                  </a:lnTo>
                </a:path>
                <a:path w="3002279" h="2326004">
                  <a:moveTo>
                    <a:pt x="3002189" y="2227555"/>
                  </a:moveTo>
                  <a:lnTo>
                    <a:pt x="19599" y="2227555"/>
                  </a:lnTo>
                </a:path>
                <a:path w="3002279" h="2326004">
                  <a:moveTo>
                    <a:pt x="99221" y="2303085"/>
                  </a:moveTo>
                  <a:lnTo>
                    <a:pt x="9922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31486" y="774700"/>
            <a:ext cx="8305165" cy="1910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340"/>
              </a:spcBef>
              <a:tabLst>
                <a:tab pos="1659889" algn="l"/>
                <a:tab pos="2797810" algn="l"/>
                <a:tab pos="4627880" algn="l"/>
                <a:tab pos="6587490" algn="l"/>
                <a:tab pos="7164705" algn="l"/>
              </a:tabLst>
            </a:pPr>
            <a:r>
              <a:rPr sz="4200" spc="-305" dirty="0">
                <a:solidFill>
                  <a:srgbClr val="000000"/>
                </a:solidFill>
                <a:latin typeface="Arial"/>
                <a:cs typeface="Arial"/>
              </a:rPr>
              <a:t>Researchers</a:t>
            </a:r>
            <a:r>
              <a:rPr sz="42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4200" spc="-50" dirty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sz="4200" spc="-2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200" spc="-380" dirty="0">
                <a:solidFill>
                  <a:srgbClr val="000000"/>
                </a:solidFill>
                <a:latin typeface="Arial"/>
                <a:cs typeface="Arial"/>
              </a:rPr>
              <a:t>many</a:t>
            </a:r>
            <a:r>
              <a:rPr sz="42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4200" spc="-10" dirty="0">
                <a:solidFill>
                  <a:srgbClr val="000000"/>
                </a:solidFill>
                <a:latin typeface="Arial"/>
                <a:cs typeface="Arial"/>
              </a:rPr>
              <a:t>institutions</a:t>
            </a:r>
            <a:r>
              <a:rPr sz="42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4200" spc="-25" dirty="0">
                <a:solidFill>
                  <a:srgbClr val="000000"/>
                </a:solidFill>
                <a:latin typeface="Arial"/>
                <a:cs typeface="Arial"/>
              </a:rPr>
              <a:t>are </a:t>
            </a:r>
            <a:r>
              <a:rPr sz="4200" spc="-10" dirty="0">
                <a:solidFill>
                  <a:srgbClr val="000000"/>
                </a:solidFill>
                <a:latin typeface="Arial"/>
                <a:cs typeface="Arial"/>
              </a:rPr>
              <a:t>putting</a:t>
            </a:r>
            <a:r>
              <a:rPr sz="42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4200" spc="-85" dirty="0">
                <a:solidFill>
                  <a:srgbClr val="000000"/>
                </a:solidFill>
                <a:latin typeface="Arial"/>
                <a:cs typeface="Arial"/>
              </a:rPr>
              <a:t>together</a:t>
            </a:r>
            <a:r>
              <a:rPr sz="4200" spc="-20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200" spc="-4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4200" spc="-1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200" spc="-340" dirty="0">
                <a:solidFill>
                  <a:srgbClr val="000000"/>
                </a:solidFill>
                <a:latin typeface="Arial"/>
                <a:cs typeface="Arial"/>
              </a:rPr>
              <a:t>genomes</a:t>
            </a:r>
            <a:r>
              <a:rPr sz="4200" dirty="0">
                <a:solidFill>
                  <a:srgbClr val="000000"/>
                </a:solidFill>
                <a:latin typeface="Arial"/>
                <a:cs typeface="Arial"/>
              </a:rPr>
              <a:t>	of</a:t>
            </a:r>
            <a:r>
              <a:rPr sz="4200" spc="-1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200" spc="-380" dirty="0">
                <a:solidFill>
                  <a:srgbClr val="000000"/>
                </a:solidFill>
                <a:latin typeface="Arial"/>
                <a:cs typeface="Arial"/>
              </a:rPr>
              <a:t>many </a:t>
            </a:r>
            <a:r>
              <a:rPr sz="4200" spc="-315" dirty="0">
                <a:solidFill>
                  <a:srgbClr val="000000"/>
                </a:solidFill>
                <a:latin typeface="Arial"/>
                <a:cs typeface="Arial"/>
              </a:rPr>
              <a:t>animals.</a:t>
            </a:r>
            <a:endParaRPr sz="4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8786" y="3670300"/>
            <a:ext cx="8334375" cy="51739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380"/>
              </a:spcBef>
              <a:tabLst>
                <a:tab pos="927100" algn="l"/>
                <a:tab pos="2336165" algn="l"/>
                <a:tab pos="2687320" algn="l"/>
                <a:tab pos="3758565" algn="l"/>
                <a:tab pos="5257800" algn="l"/>
                <a:tab pos="5466080" algn="l"/>
              </a:tabLst>
            </a:pPr>
            <a:r>
              <a:rPr sz="4200" spc="-130" dirty="0">
                <a:latin typeface="Arial"/>
                <a:cs typeface="Arial"/>
              </a:rPr>
              <a:t>Help</a:t>
            </a:r>
            <a:r>
              <a:rPr sz="4200" spc="-140" dirty="0">
                <a:latin typeface="Arial"/>
                <a:cs typeface="Arial"/>
              </a:rPr>
              <a:t> </a:t>
            </a:r>
            <a:r>
              <a:rPr sz="4200" spc="-80" dirty="0">
                <a:latin typeface="Arial"/>
                <a:cs typeface="Arial"/>
              </a:rPr>
              <a:t>understand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40" dirty="0">
                <a:latin typeface="Arial"/>
                <a:cs typeface="Arial"/>
              </a:rPr>
              <a:t>how</a:t>
            </a:r>
            <a:r>
              <a:rPr sz="4200" spc="-245" dirty="0">
                <a:latin typeface="Arial"/>
                <a:cs typeface="Arial"/>
              </a:rPr>
              <a:t> </a:t>
            </a:r>
            <a:r>
              <a:rPr sz="4200" spc="80" dirty="0">
                <a:latin typeface="Arial"/>
                <a:cs typeface="Arial"/>
              </a:rPr>
              <a:t>to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345" dirty="0">
                <a:latin typeface="Arial"/>
                <a:cs typeface="Arial"/>
              </a:rPr>
              <a:t>make</a:t>
            </a:r>
            <a:r>
              <a:rPr sz="4200" spc="-5" dirty="0">
                <a:latin typeface="Arial"/>
                <a:cs typeface="Arial"/>
              </a:rPr>
              <a:t> </a:t>
            </a:r>
            <a:r>
              <a:rPr sz="4200" spc="-325" dirty="0">
                <a:latin typeface="Arial"/>
                <a:cs typeface="Arial"/>
              </a:rPr>
              <a:t>animals </a:t>
            </a:r>
            <a:r>
              <a:rPr sz="4200" spc="-370" dirty="0">
                <a:latin typeface="Arial"/>
                <a:cs typeface="Arial"/>
              </a:rPr>
              <a:t>and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35" dirty="0">
                <a:latin typeface="Arial"/>
                <a:cs typeface="Arial"/>
              </a:rPr>
              <a:t>plants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60" dirty="0">
                <a:latin typeface="Arial"/>
                <a:cs typeface="Arial"/>
              </a:rPr>
              <a:t>more</a:t>
            </a:r>
            <a:r>
              <a:rPr sz="4200" spc="-180" dirty="0">
                <a:latin typeface="Arial"/>
                <a:cs typeface="Arial"/>
              </a:rPr>
              <a:t> </a:t>
            </a:r>
            <a:r>
              <a:rPr sz="4200" spc="-280" dirty="0">
                <a:latin typeface="Arial"/>
                <a:cs typeface="Arial"/>
              </a:rPr>
              <a:t>hardy,</a:t>
            </a:r>
            <a:r>
              <a:rPr sz="4200" spc="-425" dirty="0">
                <a:latin typeface="Arial"/>
                <a:cs typeface="Arial"/>
              </a:rPr>
              <a:t> </a:t>
            </a:r>
            <a:r>
              <a:rPr sz="4200" spc="-165" dirty="0">
                <a:latin typeface="Arial"/>
                <a:cs typeface="Arial"/>
              </a:rPr>
              <a:t>resistant</a:t>
            </a:r>
            <a:r>
              <a:rPr sz="4200" spc="-110" dirty="0">
                <a:latin typeface="Arial"/>
                <a:cs typeface="Arial"/>
              </a:rPr>
              <a:t> </a:t>
            </a:r>
            <a:r>
              <a:rPr sz="4200" spc="80" dirty="0">
                <a:latin typeface="Arial"/>
                <a:cs typeface="Arial"/>
              </a:rPr>
              <a:t>to </a:t>
            </a:r>
            <a:r>
              <a:rPr sz="4200" spc="-330" dirty="0">
                <a:latin typeface="Arial"/>
                <a:cs typeface="Arial"/>
              </a:rPr>
              <a:t>disease,</a:t>
            </a:r>
            <a:r>
              <a:rPr sz="4200" spc="-409" dirty="0">
                <a:latin typeface="Arial"/>
                <a:cs typeface="Arial"/>
              </a:rPr>
              <a:t> </a:t>
            </a:r>
            <a:r>
              <a:rPr sz="4200" spc="-370" dirty="0">
                <a:latin typeface="Arial"/>
                <a:cs typeface="Arial"/>
              </a:rPr>
              <a:t>and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90" dirty="0">
                <a:latin typeface="Arial"/>
                <a:cs typeface="Arial"/>
              </a:rPr>
              <a:t>understand</a:t>
            </a:r>
            <a:r>
              <a:rPr sz="4200" dirty="0">
                <a:latin typeface="Arial"/>
                <a:cs typeface="Arial"/>
              </a:rPr>
              <a:t>	their</a:t>
            </a:r>
            <a:r>
              <a:rPr sz="4200" spc="-180" dirty="0">
                <a:latin typeface="Arial"/>
                <a:cs typeface="Arial"/>
              </a:rPr>
              <a:t> </a:t>
            </a:r>
            <a:r>
              <a:rPr sz="4200" spc="-85" dirty="0">
                <a:latin typeface="Arial"/>
                <a:cs typeface="Arial"/>
              </a:rPr>
              <a:t>biology.</a:t>
            </a:r>
            <a:endParaRPr sz="4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4200">
              <a:latin typeface="Arial"/>
              <a:cs typeface="Arial"/>
            </a:endParaRPr>
          </a:p>
          <a:p>
            <a:pPr marL="12700" marR="27940">
              <a:lnSpc>
                <a:spcPts val="4900"/>
              </a:lnSpc>
              <a:tabLst>
                <a:tab pos="4067810" algn="l"/>
                <a:tab pos="4982845" algn="l"/>
                <a:tab pos="5166995" algn="l"/>
                <a:tab pos="6082030" algn="l"/>
              </a:tabLst>
            </a:pPr>
            <a:r>
              <a:rPr sz="4200" dirty="0">
                <a:latin typeface="Arial"/>
                <a:cs typeface="Arial"/>
              </a:rPr>
              <a:t>New</a:t>
            </a:r>
            <a:r>
              <a:rPr sz="4200" spc="-215" dirty="0">
                <a:latin typeface="Arial"/>
                <a:cs typeface="Arial"/>
              </a:rPr>
              <a:t> </a:t>
            </a:r>
            <a:r>
              <a:rPr sz="4200" spc="-90" dirty="0">
                <a:latin typeface="Arial"/>
                <a:cs typeface="Arial"/>
              </a:rPr>
              <a:t>technologies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370" dirty="0">
                <a:latin typeface="Arial"/>
                <a:cs typeface="Arial"/>
              </a:rPr>
              <a:t>and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140" dirty="0">
                <a:latin typeface="Arial"/>
                <a:cs typeface="Arial"/>
              </a:rPr>
              <a:t>larger</a:t>
            </a:r>
            <a:r>
              <a:rPr sz="4200" spc="-125" dirty="0">
                <a:latin typeface="Arial"/>
                <a:cs typeface="Arial"/>
              </a:rPr>
              <a:t> </a:t>
            </a:r>
            <a:r>
              <a:rPr sz="4200" spc="-340" dirty="0">
                <a:latin typeface="Arial"/>
                <a:cs typeface="Arial"/>
              </a:rPr>
              <a:t>genomes </a:t>
            </a:r>
            <a:r>
              <a:rPr sz="4200" spc="-105" dirty="0">
                <a:latin typeface="Arial"/>
                <a:cs typeface="Arial"/>
              </a:rPr>
              <a:t>require</a:t>
            </a:r>
            <a:r>
              <a:rPr sz="4200" spc="-150" dirty="0">
                <a:latin typeface="Arial"/>
                <a:cs typeface="Arial"/>
              </a:rPr>
              <a:t> </a:t>
            </a:r>
            <a:r>
              <a:rPr sz="4200" spc="-215" dirty="0">
                <a:latin typeface="Arial"/>
                <a:cs typeface="Arial"/>
              </a:rPr>
              <a:t>new</a:t>
            </a:r>
            <a:r>
              <a:rPr sz="4200" spc="-75" dirty="0">
                <a:latin typeface="Arial"/>
                <a:cs typeface="Arial"/>
              </a:rPr>
              <a:t> </a:t>
            </a:r>
            <a:r>
              <a:rPr sz="4200" spc="-45" dirty="0">
                <a:latin typeface="Arial"/>
                <a:cs typeface="Arial"/>
              </a:rPr>
              <a:t>algorithms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370" dirty="0">
                <a:latin typeface="Arial"/>
                <a:cs typeface="Arial"/>
              </a:rPr>
              <a:t>and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10" dirty="0">
                <a:latin typeface="Arial"/>
                <a:cs typeface="Arial"/>
              </a:rPr>
              <a:t>faster </a:t>
            </a:r>
            <a:r>
              <a:rPr sz="4200" spc="-70" dirty="0">
                <a:latin typeface="Arial"/>
                <a:cs typeface="Arial"/>
              </a:rPr>
              <a:t>computers.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7492" y="393700"/>
            <a:ext cx="7468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8650" algn="l"/>
                <a:tab pos="5027930" algn="l"/>
              </a:tabLst>
            </a:pPr>
            <a:r>
              <a:rPr spc="300" dirty="0"/>
              <a:t>Other</a:t>
            </a:r>
            <a:r>
              <a:rPr dirty="0"/>
              <a:t>	</a:t>
            </a:r>
            <a:r>
              <a:rPr spc="120" dirty="0"/>
              <a:t>Sequenced</a:t>
            </a:r>
            <a:r>
              <a:rPr dirty="0"/>
              <a:t>	</a:t>
            </a:r>
            <a:r>
              <a:rPr spc="55" dirty="0"/>
              <a:t>Genomes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1333500"/>
            <a:ext cx="1739900" cy="1739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90966" y="1619250"/>
            <a:ext cx="2558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latin typeface="Arial"/>
                <a:cs typeface="Arial"/>
              </a:rPr>
              <a:t>Arabidopsis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thailiana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3327400"/>
            <a:ext cx="1739900" cy="1739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14525" y="3810000"/>
            <a:ext cx="316166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204" dirty="0">
                <a:latin typeface="Arial"/>
                <a:cs typeface="Arial"/>
              </a:rPr>
              <a:t>Saccharomyces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cerevisiae </a:t>
            </a:r>
            <a:r>
              <a:rPr sz="2400" spc="-150" dirty="0">
                <a:latin typeface="Arial"/>
                <a:cs typeface="Arial"/>
              </a:rPr>
              <a:t>(baker’s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yeast)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400" y="5511800"/>
            <a:ext cx="1739900" cy="11557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06253" y="5702300"/>
            <a:ext cx="170180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105" dirty="0">
                <a:latin typeface="Arial"/>
                <a:cs typeface="Arial"/>
              </a:rPr>
              <a:t>Apis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mellifera </a:t>
            </a:r>
            <a:r>
              <a:rPr sz="2400" spc="-120" dirty="0">
                <a:latin typeface="Arial"/>
                <a:cs typeface="Arial"/>
              </a:rPr>
              <a:t>(honey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bee)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300" y="6921500"/>
            <a:ext cx="1816100" cy="12065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08783" y="7137400"/>
            <a:ext cx="1228090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-190" dirty="0">
                <a:latin typeface="Arial"/>
                <a:cs typeface="Arial"/>
              </a:rPr>
              <a:t>Bos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torus </a:t>
            </a:r>
            <a:r>
              <a:rPr sz="2400" spc="-10" dirty="0">
                <a:latin typeface="Arial"/>
                <a:cs typeface="Arial"/>
              </a:rPr>
              <a:t>(cow)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6600" y="1333500"/>
            <a:ext cx="2247900" cy="17399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208616" y="1447800"/>
            <a:ext cx="213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Callithrix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jacchus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08616" y="1803400"/>
            <a:ext cx="1476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Arial"/>
                <a:cs typeface="Arial"/>
              </a:rPr>
              <a:t>(marmoset)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6600" y="3695700"/>
            <a:ext cx="2286000" cy="160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279580" y="4102100"/>
            <a:ext cx="259524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165" dirty="0">
                <a:latin typeface="Arial"/>
                <a:cs typeface="Arial"/>
              </a:rPr>
              <a:t>Canis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lupus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familiaris </a:t>
            </a:r>
            <a:r>
              <a:rPr sz="2400" spc="-10" dirty="0">
                <a:latin typeface="Arial"/>
                <a:cs typeface="Arial"/>
              </a:rPr>
              <a:t>(dog)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6600" y="5626100"/>
            <a:ext cx="2286000" cy="17780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171309" y="5854700"/>
            <a:ext cx="311848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75" dirty="0">
                <a:latin typeface="Arial"/>
                <a:cs typeface="Arial"/>
              </a:rPr>
              <a:t>Drosophila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melanogaster </a:t>
            </a:r>
            <a:r>
              <a:rPr sz="2400" dirty="0">
                <a:latin typeface="Arial"/>
                <a:cs typeface="Arial"/>
              </a:rPr>
              <a:t>(fruit </a:t>
            </a:r>
            <a:r>
              <a:rPr sz="2400" spc="-20" dirty="0">
                <a:latin typeface="Arial"/>
                <a:cs typeface="Arial"/>
              </a:rPr>
              <a:t>fly)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73157" y="8216900"/>
            <a:ext cx="1787525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-225" dirty="0">
                <a:latin typeface="Arial"/>
                <a:cs typeface="Arial"/>
              </a:rPr>
              <a:t>Equus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caballus </a:t>
            </a:r>
            <a:r>
              <a:rPr sz="2400" spc="-10" dirty="0">
                <a:latin typeface="Arial"/>
                <a:cs typeface="Arial"/>
              </a:rPr>
              <a:t>(horse)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6600" y="7734300"/>
            <a:ext cx="2286000" cy="15748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68907" y="8642350"/>
            <a:ext cx="4664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2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Sequenced</a:t>
            </a:r>
            <a:r>
              <a:rPr sz="24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Eukaryotic</a:t>
            </a:r>
            <a:r>
              <a:rPr sz="24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Chromosomes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61768" y="8870950"/>
            <a:ext cx="1193165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60655" marR="5080" indent="-148590">
              <a:lnSpc>
                <a:spcPts val="2800"/>
              </a:lnSpc>
              <a:spcBef>
                <a:spcPts val="259"/>
              </a:spcBef>
            </a:pPr>
            <a:r>
              <a:rPr sz="2400" spc="-204" dirty="0">
                <a:latin typeface="Arial"/>
                <a:cs typeface="Arial"/>
              </a:rPr>
              <a:t>and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many </a:t>
            </a:r>
            <a:r>
              <a:rPr sz="2400" spc="-10" dirty="0">
                <a:latin typeface="Arial"/>
                <a:cs typeface="Arial"/>
              </a:rPr>
              <a:t>more...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9401" y="3644900"/>
            <a:ext cx="4173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1630" algn="l"/>
              </a:tabLst>
            </a:pPr>
            <a:r>
              <a:rPr spc="75" dirty="0"/>
              <a:t>Gene</a:t>
            </a:r>
            <a:r>
              <a:rPr dirty="0"/>
              <a:t>	</a:t>
            </a:r>
            <a:r>
              <a:rPr spc="155" dirty="0"/>
              <a:t>discovery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7530" y="254000"/>
            <a:ext cx="7527290" cy="186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3165" algn="l"/>
                <a:tab pos="4959985" algn="l"/>
              </a:tabLst>
            </a:pPr>
            <a:r>
              <a:rPr sz="4800" spc="100" dirty="0">
                <a:solidFill>
                  <a:srgbClr val="E32400"/>
                </a:solidFill>
                <a:latin typeface="Calibri"/>
                <a:cs typeface="Calibri"/>
              </a:rPr>
              <a:t>Example</a:t>
            </a:r>
            <a:r>
              <a:rPr sz="4800" dirty="0">
                <a:solidFill>
                  <a:srgbClr val="E32400"/>
                </a:solidFill>
                <a:latin typeface="Calibri"/>
                <a:cs typeface="Calibri"/>
              </a:rPr>
              <a:t>	</a:t>
            </a:r>
            <a:r>
              <a:rPr sz="4800" spc="-10" dirty="0">
                <a:solidFill>
                  <a:srgbClr val="E32400"/>
                </a:solidFill>
                <a:latin typeface="Calibri"/>
                <a:cs typeface="Calibri"/>
              </a:rPr>
              <a:t>Genomic</a:t>
            </a:r>
            <a:r>
              <a:rPr sz="4800" dirty="0">
                <a:solidFill>
                  <a:srgbClr val="E32400"/>
                </a:solidFill>
                <a:latin typeface="Calibri"/>
                <a:cs typeface="Calibri"/>
              </a:rPr>
              <a:t>	</a:t>
            </a:r>
            <a:r>
              <a:rPr sz="4800" spc="120" dirty="0">
                <a:solidFill>
                  <a:srgbClr val="E32400"/>
                </a:solidFill>
                <a:latin typeface="Calibri"/>
                <a:cs typeface="Calibri"/>
              </a:rPr>
              <a:t>Sequence</a:t>
            </a:r>
            <a:endParaRPr sz="4800">
              <a:latin typeface="Calibri"/>
              <a:cs typeface="Calibri"/>
            </a:endParaRPr>
          </a:p>
          <a:p>
            <a:pPr marL="326390" marR="377825">
              <a:lnSpc>
                <a:spcPct val="138900"/>
              </a:lnSpc>
              <a:spcBef>
                <a:spcPts val="720"/>
              </a:spcBef>
            </a:pPr>
            <a:r>
              <a:rPr sz="2400" spc="135" dirty="0">
                <a:latin typeface="Lucida Sans Unicode"/>
                <a:cs typeface="Lucida Sans Unicode"/>
              </a:rPr>
              <a:t>⇐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80" dirty="0">
                <a:latin typeface="Arial"/>
                <a:cs typeface="Arial"/>
              </a:rPr>
              <a:t>Giant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260" dirty="0">
                <a:latin typeface="Arial"/>
                <a:cs typeface="Arial"/>
              </a:rPr>
              <a:t>Panda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(</a:t>
            </a:r>
            <a:r>
              <a:rPr sz="2400" i="1" spc="-195" dirty="0">
                <a:latin typeface="Arial"/>
                <a:cs typeface="Arial"/>
              </a:rPr>
              <a:t>Ailuropoda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220" dirty="0">
                <a:latin typeface="Arial"/>
                <a:cs typeface="Arial"/>
              </a:rPr>
              <a:t>melanoleuca</a:t>
            </a:r>
            <a:r>
              <a:rPr sz="2400" spc="-220" dirty="0">
                <a:latin typeface="Arial"/>
                <a:cs typeface="Arial"/>
              </a:rPr>
              <a:t>)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mitochondrion </a:t>
            </a:r>
            <a:r>
              <a:rPr sz="2400" spc="-195" dirty="0">
                <a:latin typeface="Arial"/>
                <a:cs typeface="Arial"/>
              </a:rPr>
              <a:t>sequence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u="sng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[Peng</a:t>
            </a:r>
            <a:r>
              <a:rPr sz="2400" u="sng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et</a:t>
            </a:r>
            <a:r>
              <a:rPr sz="24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al,</a:t>
            </a:r>
            <a:r>
              <a:rPr sz="2400" u="sng" spc="-22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Gene</a:t>
            </a:r>
            <a:r>
              <a:rPr sz="24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397:76-</a:t>
            </a:r>
            <a:r>
              <a:rPr sz="2400" u="sng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83</a:t>
            </a:r>
            <a:r>
              <a:rPr sz="24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(2007)]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4200" y="2374900"/>
            <a:ext cx="5994400" cy="449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682" y="-12700"/>
            <a:ext cx="4427220" cy="980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urier New"/>
                <a:cs typeface="Courier New"/>
              </a:rPr>
              <a:t>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atactataaa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tccacctctc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attttattca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cttcatacat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gctattacac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actctgtgcc</a:t>
            </a:r>
            <a:endParaRPr sz="900">
              <a:latin typeface="Courier New"/>
              <a:cs typeface="Courier New"/>
            </a:endParaRPr>
          </a:p>
          <a:p>
            <a:pPr marL="138430" algn="just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Courier New"/>
                <a:cs typeface="Courier New"/>
              </a:rPr>
              <a:t>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atcatagtat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gttttcatac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atcctccctt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ctttcacacc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ctatgtatat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cgtacattaa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121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tggtgtaccc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cccctccccc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tatgtatatc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gtgcattaat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ggcgtgcccc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atgcatataa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181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gcatgtacat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actgtgcttg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gctttacatg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aggatactca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ttacaagaac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ttatttcaag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241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cgatagtcta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tgagcatgta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tttcacttag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tccaagagct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tgatcaccaa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gcctcgagaa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301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accagcaatc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cttgcgagta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cgtgtacctc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ttctcgctcc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gggcccataa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tttgtggggg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361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tttctatact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gaaactatac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ctggcatctg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gttcttacct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cagggccatg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ttagcgtcaa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421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ctcaatccta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ctaacccttc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aaatgggaca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tctcgatgga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ctaatgacta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atcagcccat</a:t>
            </a:r>
            <a:endParaRPr sz="900">
              <a:latin typeface="Courier New"/>
              <a:cs typeface="Courier New"/>
            </a:endParaRPr>
          </a:p>
          <a:p>
            <a:pPr marL="75565" algn="just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latin typeface="Courier New"/>
                <a:cs typeface="Courier New"/>
              </a:rPr>
              <a:t>481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gatcacacat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aactgtggtg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tcatgcattt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ggtatttttt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aattttaggg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0" dirty="0">
                <a:latin typeface="Courier New"/>
                <a:cs typeface="Courier New"/>
              </a:rPr>
              <a:t>ggggaacttg</a:t>
            </a:r>
            <a:endParaRPr sz="900">
              <a:latin typeface="Courier New"/>
              <a:cs typeface="Courier New"/>
            </a:endParaRPr>
          </a:p>
          <a:p>
            <a:pPr marL="12700" marR="5080" indent="62865" algn="just">
              <a:lnSpc>
                <a:spcPct val="101899"/>
              </a:lnSpc>
            </a:pPr>
            <a:r>
              <a:rPr sz="900" spc="-25" dirty="0">
                <a:latin typeface="Courier New"/>
                <a:cs typeface="Courier New"/>
              </a:rPr>
              <a:t>541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ctatgactca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gctatgaccg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taaaggtctc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gtcgcagtca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aatcagctgt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agctgggctt </a:t>
            </a:r>
            <a:r>
              <a:rPr sz="900" spc="-25" dirty="0">
                <a:latin typeface="Courier New"/>
                <a:cs typeface="Courier New"/>
              </a:rPr>
              <a:t>601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attcatcttt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cgaggctcct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catggacacc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cataaggtgc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aattcagtca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atggtcacag </a:t>
            </a:r>
            <a:r>
              <a:rPr sz="900" spc="-25" dirty="0">
                <a:latin typeface="Courier New"/>
                <a:cs typeface="Courier New"/>
              </a:rPr>
              <a:t>661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gacataacac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tatagatcac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ccggactggc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cgtacgtgta </a:t>
            </a:r>
            <a:r>
              <a:rPr sz="900" spc="-25" dirty="0">
                <a:latin typeface="Courier New"/>
                <a:cs typeface="Courier New"/>
              </a:rPr>
              <a:t>721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cgcacgtgta </a:t>
            </a:r>
            <a:r>
              <a:rPr sz="900" spc="-25" dirty="0">
                <a:latin typeface="Courier New"/>
                <a:cs typeface="Courier New"/>
              </a:rPr>
              <a:t>781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cgcacgtgta </a:t>
            </a:r>
            <a:r>
              <a:rPr sz="900" spc="-25" dirty="0">
                <a:latin typeface="Courier New"/>
                <a:cs typeface="Courier New"/>
              </a:rPr>
              <a:t>841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cgcacgtgta </a:t>
            </a:r>
            <a:r>
              <a:rPr sz="900" spc="-25" dirty="0">
                <a:latin typeface="Courier New"/>
                <a:cs typeface="Courier New"/>
              </a:rPr>
              <a:t>901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cgtacgtgta </a:t>
            </a:r>
            <a:r>
              <a:rPr sz="900" spc="-25" dirty="0">
                <a:latin typeface="Courier New"/>
                <a:cs typeface="Courier New"/>
              </a:rPr>
              <a:t>961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cgcacgtgta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cgtacgtgta </a:t>
            </a:r>
            <a:r>
              <a:rPr sz="900" spc="-40" dirty="0">
                <a:latin typeface="Courier New"/>
                <a:cs typeface="Courier New"/>
              </a:rPr>
              <a:t>1021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cgcgtacgta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ttttagatac taagttagct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tagacaaacc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ccccttaccc </a:t>
            </a:r>
            <a:r>
              <a:rPr sz="900" spc="-40" dirty="0">
                <a:latin typeface="Courier New"/>
                <a:cs typeface="Courier New"/>
              </a:rPr>
              <a:t>cccgtaactt 1081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caagaagctt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acatatactt atggatgtcc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tgccaaaccc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caaaaacaag </a:t>
            </a:r>
            <a:r>
              <a:rPr sz="900" spc="-40" dirty="0">
                <a:latin typeface="Courier New"/>
                <a:cs typeface="Courier New"/>
              </a:rPr>
              <a:t>actaaatata 1141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tgcgcaaaca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tgaagtcact tacacctaaa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cccatataat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taagctaacc </a:t>
            </a:r>
            <a:r>
              <a:rPr sz="900" spc="-40" dirty="0">
                <a:latin typeface="Courier New"/>
                <a:cs typeface="Courier New"/>
              </a:rPr>
              <a:t>ccccagccaa 1201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tgttgcaaca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actacggaca tgggactcta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aattttaatt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tatctataga </a:t>
            </a:r>
            <a:r>
              <a:rPr sz="900" spc="-40" dirty="0">
                <a:latin typeface="Courier New"/>
                <a:cs typeface="Courier New"/>
              </a:rPr>
              <a:t>tatttttctt 1261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ttactgtgtc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tccccagcat tgatttttta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attatcatta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ttccacacca </a:t>
            </a:r>
            <a:r>
              <a:rPr sz="900" spc="-40" dirty="0">
                <a:latin typeface="Courier New"/>
                <a:cs typeface="Courier New"/>
              </a:rPr>
              <a:t>ccaatttcca 1321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ttgagctatt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tcacatgagt tccaaatcaa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ttatgttcat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gtagcttaac </a:t>
            </a:r>
            <a:r>
              <a:rPr sz="900" spc="-40" dirty="0">
                <a:latin typeface="Courier New"/>
                <a:cs typeface="Courier New"/>
              </a:rPr>
              <a:t>gaataaagca 1381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aggtactgaa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aatgcctaga tgggtcacgc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taccccatag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acataaaggt </a:t>
            </a:r>
            <a:r>
              <a:rPr sz="900" spc="-40" dirty="0">
                <a:latin typeface="Courier New"/>
                <a:cs typeface="Courier New"/>
              </a:rPr>
              <a:t>ttggtcctag 1441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ccttcctatt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agccattaac aagattacac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atgtaagtct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ccacgctcca </a:t>
            </a:r>
            <a:r>
              <a:rPr sz="900" spc="-40" dirty="0">
                <a:latin typeface="Courier New"/>
                <a:cs typeface="Courier New"/>
              </a:rPr>
              <a:t>gtgaaaatgc 1501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cccttaagtc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ctcttagacg acctaaagga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gcgggtatca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agcacacctt </a:t>
            </a:r>
            <a:r>
              <a:rPr sz="900" spc="-40" dirty="0">
                <a:latin typeface="Courier New"/>
                <a:cs typeface="Courier New"/>
              </a:rPr>
              <a:t>atggtagctc 1561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acaacgcctt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gcttagccac acccccacgg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gaaacagcag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tgataaaaat </a:t>
            </a:r>
            <a:r>
              <a:rPr sz="900" spc="-40" dirty="0">
                <a:latin typeface="Courier New"/>
                <a:cs typeface="Courier New"/>
              </a:rPr>
              <a:t>taagctatga 1621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acgaaagttc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gactaagcta tgttaatact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agggttggta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aatctcgtgc </a:t>
            </a:r>
            <a:r>
              <a:rPr sz="900" spc="-40" dirty="0">
                <a:latin typeface="Courier New"/>
                <a:cs typeface="Courier New"/>
              </a:rPr>
              <a:t>cagccaccgc 1681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ggtcatacga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ttaactcgag ttaataggcc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tacggcgtaa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agcgtgtaaa </a:t>
            </a:r>
            <a:r>
              <a:rPr sz="900" spc="-40" dirty="0">
                <a:latin typeface="Courier New"/>
                <a:cs typeface="Courier New"/>
              </a:rPr>
              <a:t>agaaaaaatc 1741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tcctctacta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aagttaaagt atgattaagc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tgtaaaaagc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taccattaat </a:t>
            </a:r>
            <a:r>
              <a:rPr sz="900" spc="-40" dirty="0">
                <a:latin typeface="Courier New"/>
                <a:cs typeface="Courier New"/>
              </a:rPr>
              <a:t>actaaaataa 1801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actacgaaag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tgactttaaa atttctgatt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acacgatagc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tagggcccaa </a:t>
            </a:r>
            <a:r>
              <a:rPr sz="900" spc="-40" dirty="0">
                <a:latin typeface="Courier New"/>
                <a:cs typeface="Courier New"/>
              </a:rPr>
              <a:t>actgggatta 1861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gataccccac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tatgcctagc tctaaacata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gatattttac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taaacaaaac </a:t>
            </a:r>
            <a:r>
              <a:rPr sz="900" spc="-40" dirty="0">
                <a:latin typeface="Courier New"/>
                <a:cs typeface="Courier New"/>
              </a:rPr>
              <a:t>tattcgccag 1921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agaactacta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gcaacagctt aaaactcaaa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ggacttggcg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gtgctttata </a:t>
            </a:r>
            <a:r>
              <a:rPr sz="900" spc="-40" dirty="0">
                <a:latin typeface="Courier New"/>
                <a:cs typeface="Courier New"/>
              </a:rPr>
              <a:t>tccccctaga 1981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ggagcctgtt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ctgtaatcga taaaccccga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tagacctcac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catcccttgc </a:t>
            </a:r>
            <a:r>
              <a:rPr sz="900" spc="-40" dirty="0">
                <a:latin typeface="Courier New"/>
                <a:cs typeface="Courier New"/>
              </a:rPr>
              <a:t>taattcagtt 2041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tatataccgc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catcttcagc aaacccttaa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aaggaaaaaa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agtaagcata </a:t>
            </a:r>
            <a:r>
              <a:rPr sz="900" spc="-40" dirty="0">
                <a:latin typeface="Courier New"/>
                <a:cs typeface="Courier New"/>
              </a:rPr>
              <a:t>actaccctac 2101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ataaaaaagt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taggtcaagg tgtaacctat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gggctgggaa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gaaatgggct </a:t>
            </a:r>
            <a:r>
              <a:rPr sz="900" spc="-40" dirty="0">
                <a:latin typeface="Courier New"/>
                <a:cs typeface="Courier New"/>
              </a:rPr>
              <a:t>acattttcta 2161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ttcaagaaca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acttctacga aaacttttat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gaaactaaaa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gctaaaggcg </a:t>
            </a:r>
            <a:r>
              <a:rPr sz="900" spc="-40" dirty="0">
                <a:latin typeface="Courier New"/>
                <a:cs typeface="Courier New"/>
              </a:rPr>
              <a:t>gatttagtag 2221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taaattaaga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atagagagct taattgaaca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gggcaatgaa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gcacgcacac </a:t>
            </a:r>
            <a:r>
              <a:rPr sz="900" spc="-40" dirty="0">
                <a:latin typeface="Courier New"/>
                <a:cs typeface="Courier New"/>
              </a:rPr>
              <a:t>accgcccgtc 2281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accctcctcg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agtgatataa tttaattata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acctatttaa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actaagcaaa </a:t>
            </a:r>
            <a:r>
              <a:rPr sz="900" spc="-40" dirty="0">
                <a:latin typeface="Courier New"/>
                <a:cs typeface="Courier New"/>
              </a:rPr>
              <a:t>gcataagagg 2341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agacaagtcg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taacaaggta agcatactgg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aaagtgtgct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tggatgagcc </a:t>
            </a:r>
            <a:r>
              <a:rPr sz="900" spc="-40" dirty="0">
                <a:latin typeface="Courier New"/>
                <a:cs typeface="Courier New"/>
              </a:rPr>
              <a:t>aaagtgtagc 2401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ttaaacaaag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cgtctggctt acatccagaa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gatttcatta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atatatgact </a:t>
            </a:r>
            <a:r>
              <a:rPr sz="900" spc="-40" dirty="0">
                <a:latin typeface="Courier New"/>
                <a:cs typeface="Courier New"/>
              </a:rPr>
              <a:t>actttgaacc 2461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caaagctagc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ccaagcaaca atgactagta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aaaccattat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gaaacattca </a:t>
            </a:r>
            <a:r>
              <a:rPr sz="900" spc="-40" dirty="0">
                <a:latin typeface="Courier New"/>
                <a:cs typeface="Courier New"/>
              </a:rPr>
              <a:t>aacaaaacat 2521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ttagtagcat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gactagagta taggagatag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aaatttttaa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ctggagctat </a:t>
            </a:r>
            <a:r>
              <a:rPr sz="900" spc="-40" dirty="0">
                <a:latin typeface="Courier New"/>
                <a:cs typeface="Courier New"/>
              </a:rPr>
              <a:t>agagagagta 2581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ccgcaaggga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atgatgaaag attacctaaa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gtgataaaca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gcaaagattg </a:t>
            </a:r>
            <a:r>
              <a:rPr sz="900" spc="-40" dirty="0">
                <a:latin typeface="Courier New"/>
                <a:cs typeface="Courier New"/>
              </a:rPr>
              <a:t>ccccttctac 2641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cttttgtata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atgagttagc tagaaataac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ttaacaaaga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gaacttaagc </a:t>
            </a:r>
            <a:r>
              <a:rPr sz="900" spc="-40" dirty="0">
                <a:latin typeface="Courier New"/>
                <a:cs typeface="Courier New"/>
              </a:rPr>
              <a:t>taagtccccc 2701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gaaaccagac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gagctaccta tgaacaatcc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actgggatga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actcatctat </a:t>
            </a:r>
            <a:r>
              <a:rPr sz="900" spc="-40" dirty="0">
                <a:latin typeface="Courier New"/>
                <a:cs typeface="Courier New"/>
              </a:rPr>
              <a:t>gttgcaaaat 2761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agtgagaaga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tccataggta gaggtgaaag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gcctaacgag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cctggtgata </a:t>
            </a:r>
            <a:r>
              <a:rPr sz="900" spc="-40" dirty="0">
                <a:latin typeface="Courier New"/>
                <a:cs typeface="Courier New"/>
              </a:rPr>
              <a:t>gctggttgcc 2821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cagaatagaa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ttttagttcg actttaaacc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tgcctacaaa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actaataatt </a:t>
            </a:r>
            <a:r>
              <a:rPr sz="900" spc="-40" dirty="0">
                <a:latin typeface="Courier New"/>
                <a:cs typeface="Courier New"/>
              </a:rPr>
              <a:t>ctaatgcaga 2881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tttaaaatat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attctaaaaa ggtacagctt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tttagagtta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aggatacagc </a:t>
            </a:r>
            <a:r>
              <a:rPr sz="900" spc="-40" dirty="0">
                <a:latin typeface="Courier New"/>
                <a:cs typeface="Courier New"/>
              </a:rPr>
              <a:t>cttacttaga 2941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gagtaaatat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ttatataagc catagtaggc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ctagaggcag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ccatcaatta </a:t>
            </a:r>
            <a:r>
              <a:rPr sz="900" spc="-40" dirty="0">
                <a:latin typeface="Courier New"/>
                <a:cs typeface="Courier New"/>
              </a:rPr>
              <a:t>agaaagcgtt 3001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aaagctcaac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atctctatta acttaatacc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aagaatattt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aatcaactcc </a:t>
            </a:r>
            <a:r>
              <a:rPr sz="900" spc="-40" dirty="0">
                <a:latin typeface="Courier New"/>
                <a:cs typeface="Courier New"/>
              </a:rPr>
              <a:t>taatgtatta 3061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ctgggtcaat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ctatttaaat atagaagtga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taatgctaat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atgagtaaca </a:t>
            </a:r>
            <a:r>
              <a:rPr sz="900" spc="-40" dirty="0">
                <a:latin typeface="Courier New"/>
                <a:cs typeface="Courier New"/>
              </a:rPr>
              <a:t>agaaatattt 3121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ctcccatgca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taagcttata acagcaacgg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ataaccactg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atagttaaca </a:t>
            </a:r>
            <a:r>
              <a:rPr sz="900" spc="-40" dirty="0">
                <a:latin typeface="Courier New"/>
                <a:cs typeface="Courier New"/>
              </a:rPr>
              <a:t>acaacataga 3181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aataacctaa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tgataaaaca cctattaaat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caattgttag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tccaacacag </a:t>
            </a:r>
            <a:r>
              <a:rPr sz="900" spc="-40" dirty="0">
                <a:latin typeface="Courier New"/>
                <a:cs typeface="Courier New"/>
              </a:rPr>
              <a:t>gcatgcaatc 3241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agggaaagat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taaaagaagt gaaaggaact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cggcaaatac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aaaccccgcc </a:t>
            </a:r>
            <a:r>
              <a:rPr sz="900" spc="-40" dirty="0">
                <a:latin typeface="Courier New"/>
                <a:cs typeface="Courier New"/>
              </a:rPr>
              <a:t>tgtttaccaa 3301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aaacatcacc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tccagcattt ccagtattgg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aggcactgcc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tgcccggtga </a:t>
            </a:r>
            <a:r>
              <a:rPr sz="900" spc="-40" dirty="0">
                <a:latin typeface="Courier New"/>
                <a:cs typeface="Courier New"/>
              </a:rPr>
              <a:t>catcagttaa 3361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acggccgcgg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tattctgacc gtgcaaaggt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agcataatca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tttgttctct </a:t>
            </a:r>
            <a:r>
              <a:rPr sz="900" spc="-40" dirty="0">
                <a:latin typeface="Courier New"/>
                <a:cs typeface="Courier New"/>
              </a:rPr>
              <a:t>aaataaggac 3421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ttgtatgaat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ggccacacga gggtttaact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gtctcttact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tccaatcagt </a:t>
            </a:r>
            <a:r>
              <a:rPr sz="900" spc="-40" dirty="0">
                <a:latin typeface="Courier New"/>
                <a:cs typeface="Courier New"/>
              </a:rPr>
              <a:t>gaaattgacc 3481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tccccgtgaa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gaggcgggga taagacaata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agacgagaag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accctatgga </a:t>
            </a:r>
            <a:r>
              <a:rPr sz="900" spc="-40" dirty="0">
                <a:latin typeface="Courier New"/>
                <a:cs typeface="Courier New"/>
              </a:rPr>
              <a:t>gctttaatta 3541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actaattcaa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aaagaaacta ctaacgaccc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aacaggaata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atatatctct </a:t>
            </a:r>
            <a:r>
              <a:rPr sz="900" spc="-40" dirty="0">
                <a:latin typeface="Courier New"/>
                <a:cs typeface="Courier New"/>
              </a:rPr>
              <a:t>tttatgaatt 3601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agcaatttag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gttggggcga cctcggagga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caaaatagcc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tccgagtgat </a:t>
            </a:r>
            <a:r>
              <a:rPr sz="900" spc="-40" dirty="0">
                <a:latin typeface="Courier New"/>
                <a:cs typeface="Courier New"/>
              </a:rPr>
              <a:t>tataaatcta 3661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gacttaccag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tcaaaatgct taatcactta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ttgatccaaa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aattcttttg </a:t>
            </a:r>
            <a:r>
              <a:rPr sz="900" spc="-40" dirty="0">
                <a:latin typeface="Courier New"/>
                <a:cs typeface="Courier New"/>
              </a:rPr>
              <a:t>atcaacggaa 3721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caagttaccc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tagggataac agcgcaatcc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tatccgagag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tccatatcga </a:t>
            </a:r>
            <a:r>
              <a:rPr sz="900" spc="-40" dirty="0">
                <a:latin typeface="Courier New"/>
                <a:cs typeface="Courier New"/>
              </a:rPr>
              <a:t>caatagggtt 3781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tacgacctcg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atgttggatc aggacatcct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aatggtgcag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cagctattaa </a:t>
            </a:r>
            <a:r>
              <a:rPr sz="900" spc="-40" dirty="0">
                <a:latin typeface="Courier New"/>
                <a:cs typeface="Courier New"/>
              </a:rPr>
              <a:t>aggttcgttt 3841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gttcaacgat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taaagtccta cgtgatctga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gttcagaccg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gagcaatcca </a:t>
            </a:r>
            <a:r>
              <a:rPr sz="900" spc="-40" dirty="0">
                <a:latin typeface="Courier New"/>
                <a:cs typeface="Courier New"/>
              </a:rPr>
              <a:t>ggtcggtttc 3901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tatctattca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aataatttct cccagtacga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aaggacaaga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gaaataaggc </a:t>
            </a:r>
            <a:r>
              <a:rPr sz="900" spc="-40" dirty="0">
                <a:latin typeface="Courier New"/>
                <a:cs typeface="Courier New"/>
              </a:rPr>
              <a:t>ctacttctct 3961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gaagcgcctt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aagaccaata gatgaattta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tctaaatcta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gtaaatctaa </a:t>
            </a:r>
            <a:r>
              <a:rPr sz="900" spc="-40" dirty="0">
                <a:latin typeface="Courier New"/>
                <a:cs typeface="Courier New"/>
              </a:rPr>
              <a:t>ctccaatatt 4021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gcccaagaga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cagggctttg ttagggtggc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agagcccggt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aattgtgcaa </a:t>
            </a:r>
            <a:r>
              <a:rPr sz="900" spc="-40" dirty="0">
                <a:latin typeface="Courier New"/>
                <a:cs typeface="Courier New"/>
              </a:rPr>
              <a:t>aacttaaact 4081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cttgtgtcca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gaggttcaat tcctctccct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agcatatgtt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tataattaac </a:t>
            </a:r>
            <a:r>
              <a:rPr sz="900" spc="-40" dirty="0">
                <a:latin typeface="Courier New"/>
                <a:cs typeface="Courier New"/>
              </a:rPr>
              <a:t>atcttctcac 4141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taattgtacc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tattcttctt gctgtagcct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ttctgactct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45" dirty="0">
                <a:latin typeface="Courier New"/>
                <a:cs typeface="Courier New"/>
              </a:rPr>
              <a:t>agtagaacga </a:t>
            </a:r>
            <a:r>
              <a:rPr sz="900" spc="-40" dirty="0">
                <a:latin typeface="Courier New"/>
                <a:cs typeface="Courier New"/>
              </a:rPr>
              <a:t>aaagtactag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0" y="7245350"/>
            <a:ext cx="6661150" cy="18135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just">
              <a:lnSpc>
                <a:spcPts val="2800"/>
              </a:lnSpc>
              <a:spcBef>
                <a:spcPts val="259"/>
              </a:spcBef>
            </a:pPr>
            <a:r>
              <a:rPr sz="2400" spc="-145" dirty="0">
                <a:latin typeface="Arial"/>
                <a:cs typeface="Arial"/>
              </a:rPr>
              <a:t>Obviously,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computers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are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needed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to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understand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what </a:t>
            </a:r>
            <a:r>
              <a:rPr sz="2400" spc="-60" dirty="0">
                <a:latin typeface="Arial"/>
                <a:cs typeface="Arial"/>
              </a:rPr>
              <a:t>this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means.</a:t>
            </a:r>
            <a:endParaRPr sz="2400">
              <a:latin typeface="Arial"/>
              <a:cs typeface="Arial"/>
            </a:endParaRPr>
          </a:p>
          <a:p>
            <a:pPr marL="355600" marR="314960" algn="just">
              <a:lnSpc>
                <a:spcPts val="2800"/>
              </a:lnSpc>
            </a:pPr>
            <a:r>
              <a:rPr sz="2400" spc="-10" dirty="0">
                <a:latin typeface="Arial"/>
                <a:cs typeface="Arial"/>
              </a:rPr>
              <a:t>Where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are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254" dirty="0">
                <a:latin typeface="Arial"/>
                <a:cs typeface="Arial"/>
              </a:rPr>
              <a:t>genes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encoded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this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sequence?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254" dirty="0">
                <a:latin typeface="Arial"/>
                <a:cs typeface="Arial"/>
              </a:rPr>
              <a:t>causes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220" dirty="0">
                <a:latin typeface="Arial"/>
                <a:cs typeface="Arial"/>
              </a:rPr>
              <a:t>each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229" dirty="0">
                <a:latin typeface="Arial"/>
                <a:cs typeface="Arial"/>
              </a:rPr>
              <a:t>gene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to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be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turned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off?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does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genome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produce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observed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traits?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807" y="266700"/>
            <a:ext cx="6875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7145" algn="l"/>
                <a:tab pos="2876550" algn="l"/>
                <a:tab pos="3658235" algn="l"/>
                <a:tab pos="4895215" algn="l"/>
                <a:tab pos="6682740" algn="l"/>
              </a:tabLst>
            </a:pPr>
            <a:r>
              <a:rPr spc="-25" dirty="0"/>
              <a:t>Two</a:t>
            </a:r>
            <a:r>
              <a:rPr dirty="0"/>
              <a:t>	</a:t>
            </a:r>
            <a:r>
              <a:rPr spc="185" dirty="0"/>
              <a:t>ways</a:t>
            </a:r>
            <a:r>
              <a:rPr dirty="0"/>
              <a:t>	</a:t>
            </a:r>
            <a:r>
              <a:rPr spc="55" dirty="0"/>
              <a:t>to</a:t>
            </a:r>
            <a:r>
              <a:rPr dirty="0"/>
              <a:t>	</a:t>
            </a:r>
            <a:r>
              <a:rPr spc="45" dirty="0"/>
              <a:t>find</a:t>
            </a:r>
            <a:r>
              <a:rPr dirty="0"/>
              <a:t>	</a:t>
            </a:r>
            <a:r>
              <a:rPr spc="150" dirty="0"/>
              <a:t>genes</a:t>
            </a:r>
            <a:r>
              <a:rPr dirty="0"/>
              <a:t>	</a:t>
            </a:r>
            <a:r>
              <a:rPr b="1" spc="65" dirty="0">
                <a:latin typeface="Calibri"/>
                <a:cs typeface="Calibri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943100"/>
            <a:ext cx="812863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sz="2600" spc="-25" dirty="0">
                <a:latin typeface="Tahoma"/>
                <a:cs typeface="Tahoma"/>
              </a:rPr>
              <a:t>1.</a:t>
            </a:r>
            <a:r>
              <a:rPr sz="2600" dirty="0">
                <a:latin typeface="Tahoma"/>
                <a:cs typeface="Tahoma"/>
              </a:rPr>
              <a:t>	Search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for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sequence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of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DNA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similar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to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known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gene: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7416800"/>
            <a:ext cx="10212705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584200" marR="5080" indent="-571500">
              <a:lnSpc>
                <a:spcPts val="3100"/>
              </a:lnSpc>
              <a:spcBef>
                <a:spcPts val="219"/>
              </a:spcBef>
              <a:tabLst>
                <a:tab pos="583565" algn="l"/>
              </a:tabLst>
            </a:pPr>
            <a:r>
              <a:rPr sz="2600" spc="-25" dirty="0">
                <a:latin typeface="Tahoma"/>
                <a:cs typeface="Tahoma"/>
              </a:rPr>
              <a:t>2.</a:t>
            </a:r>
            <a:r>
              <a:rPr sz="2600" dirty="0">
                <a:latin typeface="Tahoma"/>
                <a:cs typeface="Tahoma"/>
              </a:rPr>
              <a:t>	Search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the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genome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sequence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for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patterns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of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letters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that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“look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like </a:t>
            </a:r>
            <a:r>
              <a:rPr sz="2600" spc="-10" dirty="0">
                <a:latin typeface="Tahoma"/>
                <a:cs typeface="Tahoma"/>
              </a:rPr>
              <a:t>genes”.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82752" y="4051300"/>
            <a:ext cx="10160635" cy="1397000"/>
            <a:chOff x="2082752" y="4051300"/>
            <a:chExt cx="10160635" cy="1397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2752" y="4064000"/>
              <a:ext cx="3403647" cy="1333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5599" y="4051300"/>
              <a:ext cx="6807200" cy="13970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623665" y="3708400"/>
            <a:ext cx="370840" cy="399415"/>
            <a:chOff x="1623665" y="3708400"/>
            <a:chExt cx="370840" cy="399415"/>
          </a:xfrm>
        </p:grpSpPr>
        <p:sp>
          <p:nvSpPr>
            <p:cNvPr id="9" name="object 9"/>
            <p:cNvSpPr/>
            <p:nvPr/>
          </p:nvSpPr>
          <p:spPr>
            <a:xfrm>
              <a:off x="1636365" y="3721100"/>
              <a:ext cx="307340" cy="333375"/>
            </a:xfrm>
            <a:custGeom>
              <a:avLst/>
              <a:gdLst/>
              <a:ahLst/>
              <a:cxnLst/>
              <a:rect l="l" t="t" r="r" b="b"/>
              <a:pathLst>
                <a:path w="307339" h="333375">
                  <a:moveTo>
                    <a:pt x="306734" y="0"/>
                  </a:moveTo>
                  <a:lnTo>
                    <a:pt x="255779" y="3254"/>
                  </a:lnTo>
                  <a:lnTo>
                    <a:pt x="145292" y="26441"/>
                  </a:lnTo>
                  <a:lnTo>
                    <a:pt x="38843" y="89701"/>
                  </a:lnTo>
                  <a:lnTo>
                    <a:pt x="0" y="213172"/>
                  </a:lnTo>
                  <a:lnTo>
                    <a:pt x="11633" y="227942"/>
                  </a:lnTo>
                  <a:lnTo>
                    <a:pt x="83216" y="266582"/>
                  </a:lnTo>
                  <a:lnTo>
                    <a:pt x="133937" y="287987"/>
                  </a:lnTo>
                  <a:lnTo>
                    <a:pt x="188456" y="309138"/>
                  </a:lnTo>
                  <a:lnTo>
                    <a:pt x="242161" y="328804"/>
                  </a:lnTo>
                  <a:lnTo>
                    <a:pt x="254200" y="33292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58807" y="3992238"/>
              <a:ext cx="135255" cy="115570"/>
            </a:xfrm>
            <a:custGeom>
              <a:avLst/>
              <a:gdLst/>
              <a:ahLst/>
              <a:cxnLst/>
              <a:rect l="l" t="t" r="r" b="b"/>
              <a:pathLst>
                <a:path w="135255" h="115570">
                  <a:moveTo>
                    <a:pt x="39486" y="0"/>
                  </a:moveTo>
                  <a:lnTo>
                    <a:pt x="0" y="115349"/>
                  </a:lnTo>
                  <a:lnTo>
                    <a:pt x="135092" y="97161"/>
                  </a:lnTo>
                  <a:lnTo>
                    <a:pt x="3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44600" y="2776220"/>
            <a:ext cx="1668780" cy="392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marR="419734" algn="just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Human </a:t>
            </a:r>
            <a:r>
              <a:rPr sz="1800" spc="35" dirty="0">
                <a:latin typeface="Calibri"/>
                <a:cs typeface="Calibri"/>
              </a:rPr>
              <a:t>version </a:t>
            </a:r>
            <a:r>
              <a:rPr sz="1800" spc="70" dirty="0">
                <a:latin typeface="Calibri"/>
                <a:cs typeface="Calibri"/>
              </a:rPr>
              <a:t>of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gene</a:t>
            </a:r>
            <a:endParaRPr sz="1800">
              <a:latin typeface="Calibri"/>
              <a:cs typeface="Calibri"/>
            </a:endParaRPr>
          </a:p>
          <a:p>
            <a:pPr marL="108585">
              <a:lnSpc>
                <a:spcPts val="13890"/>
              </a:lnSpc>
            </a:pPr>
            <a:r>
              <a:rPr sz="12000" spc="-50" dirty="0">
                <a:latin typeface="Courier New"/>
                <a:cs typeface="Courier New"/>
              </a:rPr>
              <a:t>{</a:t>
            </a:r>
            <a:endParaRPr sz="12000">
              <a:latin typeface="Courier New"/>
              <a:cs typeface="Courier New"/>
            </a:endParaRPr>
          </a:p>
          <a:p>
            <a:pPr marL="12700" marR="5080">
              <a:lnSpc>
                <a:spcPct val="106500"/>
              </a:lnSpc>
              <a:spcBef>
                <a:spcPts val="3010"/>
              </a:spcBef>
            </a:pPr>
            <a:r>
              <a:rPr sz="1800" spc="45" dirty="0">
                <a:latin typeface="Calibri"/>
                <a:cs typeface="Calibri"/>
              </a:rPr>
              <a:t>Similar </a:t>
            </a:r>
            <a:r>
              <a:rPr sz="1800" dirty="0">
                <a:latin typeface="Calibri"/>
                <a:cs typeface="Calibri"/>
              </a:rPr>
              <a:t>sequences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spc="65" dirty="0">
                <a:latin typeface="Calibri"/>
                <a:cs typeface="Calibri"/>
              </a:rPr>
              <a:t>other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organisms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07365" y="4775200"/>
            <a:ext cx="318770" cy="1025525"/>
            <a:chOff x="1307365" y="4775200"/>
            <a:chExt cx="318770" cy="1025525"/>
          </a:xfrm>
        </p:grpSpPr>
        <p:sp>
          <p:nvSpPr>
            <p:cNvPr id="13" name="object 13"/>
            <p:cNvSpPr/>
            <p:nvPr/>
          </p:nvSpPr>
          <p:spPr>
            <a:xfrm>
              <a:off x="1320065" y="4871850"/>
              <a:ext cx="255270" cy="916305"/>
            </a:xfrm>
            <a:custGeom>
              <a:avLst/>
              <a:gdLst/>
              <a:ahLst/>
              <a:cxnLst/>
              <a:rect l="l" t="t" r="r" b="b"/>
              <a:pathLst>
                <a:path w="255269" h="916304">
                  <a:moveTo>
                    <a:pt x="734" y="906649"/>
                  </a:moveTo>
                  <a:lnTo>
                    <a:pt x="427" y="914597"/>
                  </a:lnTo>
                  <a:lnTo>
                    <a:pt x="0" y="915974"/>
                  </a:lnTo>
                  <a:lnTo>
                    <a:pt x="193" y="877082"/>
                  </a:lnTo>
                  <a:lnTo>
                    <a:pt x="1749" y="764221"/>
                  </a:lnTo>
                  <a:lnTo>
                    <a:pt x="4172" y="718448"/>
                  </a:lnTo>
                  <a:lnTo>
                    <a:pt x="9850" y="670626"/>
                  </a:lnTo>
                  <a:lnTo>
                    <a:pt x="18457" y="621157"/>
                  </a:lnTo>
                  <a:lnTo>
                    <a:pt x="29666" y="570444"/>
                  </a:lnTo>
                  <a:lnTo>
                    <a:pt x="43154" y="518889"/>
                  </a:lnTo>
                  <a:lnTo>
                    <a:pt x="58593" y="466894"/>
                  </a:lnTo>
                  <a:lnTo>
                    <a:pt x="75659" y="414862"/>
                  </a:lnTo>
                  <a:lnTo>
                    <a:pt x="94026" y="363194"/>
                  </a:lnTo>
                  <a:lnTo>
                    <a:pt x="113368" y="312293"/>
                  </a:lnTo>
                  <a:lnTo>
                    <a:pt x="133361" y="262562"/>
                  </a:lnTo>
                  <a:lnTo>
                    <a:pt x="153678" y="214403"/>
                  </a:lnTo>
                  <a:lnTo>
                    <a:pt x="173993" y="168218"/>
                  </a:lnTo>
                  <a:lnTo>
                    <a:pt x="193983" y="124410"/>
                  </a:lnTo>
                  <a:lnTo>
                    <a:pt x="213320" y="83380"/>
                  </a:lnTo>
                  <a:lnTo>
                    <a:pt x="231679" y="45531"/>
                  </a:lnTo>
                  <a:lnTo>
                    <a:pt x="248735" y="11266"/>
                  </a:lnTo>
                  <a:lnTo>
                    <a:pt x="25466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14871" y="4775200"/>
              <a:ext cx="111125" cy="136525"/>
            </a:xfrm>
            <a:custGeom>
              <a:avLst/>
              <a:gdLst/>
              <a:ahLst/>
              <a:cxnLst/>
              <a:rect l="l" t="t" r="r" b="b"/>
              <a:pathLst>
                <a:path w="111125" h="136525">
                  <a:moveTo>
                    <a:pt x="110728" y="0"/>
                  </a:moveTo>
                  <a:lnTo>
                    <a:pt x="0" y="79496"/>
                  </a:lnTo>
                  <a:lnTo>
                    <a:pt x="107889" y="136281"/>
                  </a:lnTo>
                  <a:lnTo>
                    <a:pt x="110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59400" y="5604509"/>
            <a:ext cx="5611495" cy="111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2400" dirty="0">
                <a:solidFill>
                  <a:srgbClr val="3A88FE"/>
                </a:solidFill>
                <a:latin typeface="Lucida Sans Unicode"/>
                <a:cs typeface="Lucida Sans Unicode"/>
              </a:rPr>
              <a:t>⇒</a:t>
            </a:r>
            <a:r>
              <a:rPr sz="2400" spc="185" dirty="0">
                <a:solidFill>
                  <a:srgbClr val="3A88FE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A88FE"/>
                </a:solidFill>
                <a:latin typeface="Calibri"/>
                <a:cs typeface="Calibri"/>
              </a:rPr>
              <a:t>need</a:t>
            </a:r>
            <a:r>
              <a:rPr sz="2400" spc="400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8FE"/>
                </a:solidFill>
                <a:latin typeface="Calibri"/>
                <a:cs typeface="Calibri"/>
              </a:rPr>
              <a:t>to</a:t>
            </a:r>
            <a:r>
              <a:rPr sz="2400" spc="400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100" dirty="0">
                <a:solidFill>
                  <a:srgbClr val="3A88FE"/>
                </a:solidFill>
                <a:latin typeface="Calibri"/>
                <a:cs typeface="Calibri"/>
              </a:rPr>
              <a:t>search</a:t>
            </a:r>
            <a:r>
              <a:rPr sz="2400" spc="400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120" dirty="0">
                <a:solidFill>
                  <a:srgbClr val="3A88FE"/>
                </a:solidFill>
                <a:latin typeface="Calibri"/>
                <a:cs typeface="Calibri"/>
              </a:rPr>
              <a:t>for</a:t>
            </a:r>
            <a:r>
              <a:rPr sz="2400" spc="400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125" dirty="0">
                <a:solidFill>
                  <a:srgbClr val="3A88FE"/>
                </a:solidFill>
                <a:latin typeface="Calibri"/>
                <a:cs typeface="Calibri"/>
              </a:rPr>
              <a:t>strings</a:t>
            </a:r>
            <a:r>
              <a:rPr sz="2400" spc="400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120" dirty="0">
                <a:solidFill>
                  <a:srgbClr val="3A88FE"/>
                </a:solidFill>
                <a:latin typeface="Calibri"/>
                <a:cs typeface="Calibri"/>
              </a:rPr>
              <a:t>really</a:t>
            </a:r>
            <a:r>
              <a:rPr sz="2400" spc="395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140" dirty="0">
                <a:solidFill>
                  <a:srgbClr val="3A88FE"/>
                </a:solidFill>
                <a:latin typeface="Calibri"/>
                <a:cs typeface="Calibri"/>
              </a:rPr>
              <a:t>fast </a:t>
            </a:r>
            <a:r>
              <a:rPr sz="2400" spc="45" dirty="0">
                <a:solidFill>
                  <a:srgbClr val="3A88FE"/>
                </a:solidFill>
                <a:latin typeface="Calibri"/>
                <a:cs typeface="Calibri"/>
              </a:rPr>
              <a:t>(allowing</a:t>
            </a:r>
            <a:r>
              <a:rPr sz="2400" spc="375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120" dirty="0">
                <a:solidFill>
                  <a:srgbClr val="3A88FE"/>
                </a:solidFill>
                <a:latin typeface="Calibri"/>
                <a:cs typeface="Calibri"/>
              </a:rPr>
              <a:t>for</a:t>
            </a:r>
            <a:r>
              <a:rPr sz="2400" spc="380" dirty="0">
                <a:solidFill>
                  <a:srgbClr val="3A88FE"/>
                </a:solidFill>
                <a:latin typeface="Calibri"/>
                <a:cs typeface="Calibri"/>
              </a:rPr>
              <a:t> </a:t>
            </a:r>
            <a:r>
              <a:rPr sz="2400" spc="75" dirty="0">
                <a:solidFill>
                  <a:srgbClr val="3A88FE"/>
                </a:solidFill>
                <a:latin typeface="Calibri"/>
                <a:cs typeface="Calibri"/>
              </a:rPr>
              <a:t>errors)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2539" y="304800"/>
            <a:ext cx="47294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2885" algn="l"/>
                <a:tab pos="3277870" algn="l"/>
              </a:tabLst>
            </a:pPr>
            <a:r>
              <a:rPr sz="4200" spc="80" dirty="0"/>
              <a:t>Some</a:t>
            </a:r>
            <a:r>
              <a:rPr sz="4200" dirty="0"/>
              <a:t>	</a:t>
            </a:r>
            <a:r>
              <a:rPr sz="4200" spc="-10" dirty="0"/>
              <a:t>Human</a:t>
            </a:r>
            <a:r>
              <a:rPr sz="4200" dirty="0"/>
              <a:t>	</a:t>
            </a:r>
            <a:r>
              <a:rPr sz="4200" spc="95" dirty="0"/>
              <a:t>Genes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" y="3263469"/>
            <a:ext cx="12395198" cy="21594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97867" y="6267450"/>
            <a:ext cx="10595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http://useast.ensembl.org/Homo_sapiens/Location/View?db=core;g=ENSG00000139618;r=13:32889611-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32973805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100" y="1993900"/>
            <a:ext cx="10071100" cy="742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9995" y="393700"/>
            <a:ext cx="9106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7775" algn="l"/>
                <a:tab pos="4906010" algn="l"/>
              </a:tabLst>
            </a:pPr>
            <a:r>
              <a:rPr spc="-325" dirty="0">
                <a:solidFill>
                  <a:srgbClr val="000000"/>
                </a:solidFill>
                <a:latin typeface="Arial"/>
                <a:cs typeface="Arial"/>
              </a:rPr>
              <a:t>Estimates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	for</a:t>
            </a:r>
            <a:r>
              <a:rPr spc="-1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4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pc="-1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55" dirty="0">
                <a:solidFill>
                  <a:srgbClr val="000000"/>
                </a:solidFill>
                <a:latin typeface="Arial"/>
                <a:cs typeface="Arial"/>
              </a:rPr>
              <a:t>#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	of</a:t>
            </a:r>
            <a:r>
              <a:rPr spc="-1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320" dirty="0">
                <a:solidFill>
                  <a:srgbClr val="000000"/>
                </a:solidFill>
                <a:latin typeface="Arial"/>
                <a:cs typeface="Arial"/>
              </a:rPr>
              <a:t>Human</a:t>
            </a:r>
            <a:r>
              <a:rPr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385" dirty="0">
                <a:solidFill>
                  <a:srgbClr val="000000"/>
                </a:solidFill>
                <a:latin typeface="Arial"/>
                <a:cs typeface="Arial"/>
              </a:rPr>
              <a:t>Genes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95400"/>
            <a:ext cx="727583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0" dirty="0">
                <a:latin typeface="Arial"/>
                <a:cs typeface="Arial"/>
              </a:rPr>
              <a:t>Before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human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genome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sequence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was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available,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many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"/>
                <a:cs typeface="Arial"/>
              </a:rPr>
              <a:t>(but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all)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estimates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50" dirty="0">
                <a:latin typeface="Arial"/>
                <a:cs typeface="Arial"/>
              </a:rPr>
              <a:t>#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40" dirty="0">
                <a:latin typeface="Arial"/>
                <a:cs typeface="Arial"/>
              </a:rPr>
              <a:t>genes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were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high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(&gt;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80,000).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7006" y="6642100"/>
            <a:ext cx="1894839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dirty="0">
                <a:latin typeface="Arial"/>
                <a:cs typeface="Arial"/>
              </a:rPr>
              <a:t>Now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estimates are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</a:t>
            </a:r>
            <a:r>
              <a:rPr sz="2400" spc="-10" dirty="0">
                <a:latin typeface="Arial"/>
                <a:cs typeface="Arial"/>
              </a:rPr>
              <a:t> 23,000.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900" y="8829040"/>
            <a:ext cx="14370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dirty="0">
                <a:solidFill>
                  <a:srgbClr val="474848"/>
                </a:solidFill>
                <a:latin typeface="Verdana"/>
                <a:cs typeface="Verdana"/>
              </a:rPr>
              <a:t>Pertea</a:t>
            </a:r>
            <a:r>
              <a:rPr sz="1100" spc="-35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74848"/>
                </a:solidFill>
                <a:latin typeface="Verdana"/>
                <a:cs typeface="Verdana"/>
              </a:rPr>
              <a:t>and</a:t>
            </a:r>
            <a:r>
              <a:rPr sz="1100" spc="-35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74848"/>
                </a:solidFill>
                <a:latin typeface="Verdana"/>
                <a:cs typeface="Verdana"/>
              </a:rPr>
              <a:t>Salzberg </a:t>
            </a:r>
            <a:r>
              <a:rPr sz="1100" i="1" dirty="0">
                <a:solidFill>
                  <a:srgbClr val="474848"/>
                </a:solidFill>
                <a:latin typeface="Verdana"/>
                <a:cs typeface="Verdana"/>
              </a:rPr>
              <a:t>Genome</a:t>
            </a:r>
            <a:r>
              <a:rPr sz="1100" i="1" spc="-30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i="1" spc="-10" dirty="0">
                <a:solidFill>
                  <a:srgbClr val="474848"/>
                </a:solidFill>
                <a:latin typeface="Verdana"/>
                <a:cs typeface="Verdana"/>
              </a:rPr>
              <a:t>Biology </a:t>
            </a:r>
            <a:r>
              <a:rPr sz="1100" dirty="0">
                <a:solidFill>
                  <a:srgbClr val="474848"/>
                </a:solidFill>
                <a:latin typeface="Verdana"/>
                <a:cs typeface="Verdana"/>
              </a:rPr>
              <a:t>2010</a:t>
            </a:r>
            <a:r>
              <a:rPr sz="1100" spc="-30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474848"/>
                </a:solidFill>
                <a:latin typeface="Verdana"/>
                <a:cs typeface="Verdana"/>
              </a:rPr>
              <a:t>11</a:t>
            </a:r>
            <a:r>
              <a:rPr sz="1100" spc="-10" dirty="0">
                <a:solidFill>
                  <a:srgbClr val="474848"/>
                </a:solidFill>
                <a:latin typeface="Verdana"/>
                <a:cs typeface="Verdana"/>
              </a:rPr>
              <a:t>:206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1277" y="393700"/>
            <a:ext cx="81229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  <a:tab pos="2940050" algn="l"/>
                <a:tab pos="5468620" algn="l"/>
              </a:tabLst>
            </a:pPr>
            <a:r>
              <a:rPr spc="55" dirty="0">
                <a:solidFill>
                  <a:srgbClr val="000000"/>
                </a:solidFill>
                <a:latin typeface="Arial"/>
                <a:cs typeface="Arial"/>
              </a:rPr>
              <a:t>#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	of</a:t>
            </a:r>
            <a:r>
              <a:rPr spc="-1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385" dirty="0">
                <a:solidFill>
                  <a:srgbClr val="000000"/>
                </a:solidFill>
                <a:latin typeface="Arial"/>
                <a:cs typeface="Arial"/>
              </a:rPr>
              <a:t>Genes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pc="-16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pc="-7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280" dirty="0">
                <a:solidFill>
                  <a:srgbClr val="000000"/>
                </a:solidFill>
                <a:latin typeface="Arial"/>
                <a:cs typeface="Arial"/>
              </a:rPr>
              <a:t>Various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pc="-300" dirty="0">
                <a:solidFill>
                  <a:srgbClr val="000000"/>
                </a:solidFill>
                <a:latin typeface="Arial"/>
                <a:cs typeface="Arial"/>
              </a:rPr>
              <a:t>Organisms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536700"/>
            <a:ext cx="11442700" cy="6235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91300" y="6083300"/>
            <a:ext cx="486981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220" dirty="0">
                <a:latin typeface="Arial"/>
                <a:cs typeface="Arial"/>
              </a:rPr>
              <a:t>Subsequences</a:t>
            </a:r>
            <a:r>
              <a:rPr sz="2400" dirty="0">
                <a:latin typeface="Arial"/>
                <a:cs typeface="Arial"/>
              </a:rPr>
              <a:t> 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55" dirty="0">
                <a:latin typeface="Arial"/>
                <a:cs typeface="Arial"/>
              </a:rPr>
              <a:t>DNA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are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“genes”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 </a:t>
            </a:r>
            <a:r>
              <a:rPr sz="2400" spc="-140" dirty="0">
                <a:latin typeface="Arial"/>
                <a:cs typeface="Arial"/>
              </a:rPr>
              <a:t>encode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(mostly)</a:t>
            </a:r>
            <a:r>
              <a:rPr sz="2400" dirty="0">
                <a:latin typeface="Arial"/>
                <a:cs typeface="Arial"/>
              </a:rPr>
              <a:t> for </a:t>
            </a:r>
            <a:r>
              <a:rPr sz="2400" spc="-10" dirty="0">
                <a:latin typeface="Arial"/>
                <a:cs typeface="Arial"/>
              </a:rPr>
              <a:t>proteins.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9800" y="5937666"/>
            <a:ext cx="210185" cy="1666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00" spc="-50" dirty="0"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75"/>
              </a:spcBef>
            </a:pPr>
            <a:r>
              <a:rPr sz="4100" spc="-50" dirty="0"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1300" y="7099300"/>
            <a:ext cx="5531485" cy="14579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50" dirty="0">
                <a:latin typeface="Arial"/>
                <a:cs typeface="Arial"/>
              </a:rPr>
              <a:t>#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40" dirty="0">
                <a:latin typeface="Arial"/>
                <a:cs typeface="Arial"/>
              </a:rPr>
              <a:t>genes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various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organisms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still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not </a:t>
            </a:r>
            <a:r>
              <a:rPr sz="2400" spc="-70" dirty="0">
                <a:latin typeface="Arial"/>
                <a:cs typeface="Arial"/>
              </a:rPr>
              <a:t>definitely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know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(because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finding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40" dirty="0">
                <a:latin typeface="Arial"/>
                <a:cs typeface="Arial"/>
              </a:rPr>
              <a:t>genes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95" dirty="0">
                <a:latin typeface="Arial"/>
                <a:cs typeface="Arial"/>
              </a:rPr>
              <a:t>sequence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2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hard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problem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we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talk </a:t>
            </a:r>
            <a:r>
              <a:rPr sz="2400" spc="-10" dirty="0">
                <a:latin typeface="Arial"/>
                <a:cs typeface="Arial"/>
              </a:rPr>
              <a:t>about).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9800" y="8680866"/>
            <a:ext cx="21018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50" dirty="0">
                <a:latin typeface="Arial"/>
                <a:cs typeface="Arial"/>
              </a:rPr>
              <a:t>•</a:t>
            </a:r>
            <a:endParaRPr sz="4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1300" y="8826500"/>
            <a:ext cx="5081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But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are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reasonably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good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estimates.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700" y="7978140"/>
            <a:ext cx="1574165" cy="5588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solidFill>
                  <a:srgbClr val="474848"/>
                </a:solidFill>
                <a:latin typeface="Verdana"/>
                <a:cs typeface="Verdana"/>
              </a:rPr>
              <a:t>Pertea</a:t>
            </a:r>
            <a:r>
              <a:rPr sz="1100" spc="-35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74848"/>
                </a:solidFill>
                <a:latin typeface="Verdana"/>
                <a:cs typeface="Verdana"/>
              </a:rPr>
              <a:t>and</a:t>
            </a:r>
            <a:r>
              <a:rPr sz="1100" spc="-35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74848"/>
                </a:solidFill>
                <a:latin typeface="Verdana"/>
                <a:cs typeface="Verdana"/>
              </a:rPr>
              <a:t>Salzberg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100" i="1" dirty="0">
                <a:solidFill>
                  <a:srgbClr val="474848"/>
                </a:solidFill>
                <a:latin typeface="Verdana"/>
                <a:cs typeface="Verdana"/>
              </a:rPr>
              <a:t>Genome</a:t>
            </a:r>
            <a:r>
              <a:rPr sz="1100" i="1" spc="-35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474848"/>
                </a:solidFill>
                <a:latin typeface="Verdana"/>
                <a:cs typeface="Verdana"/>
              </a:rPr>
              <a:t>Biology</a:t>
            </a:r>
            <a:r>
              <a:rPr sz="1100" i="1" spc="-30" dirty="0">
                <a:solidFill>
                  <a:srgbClr val="474848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74848"/>
                </a:solidFill>
                <a:latin typeface="Verdana"/>
                <a:cs typeface="Verdana"/>
              </a:rPr>
              <a:t>2010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100" b="1" spc="-10" dirty="0">
                <a:solidFill>
                  <a:srgbClr val="474848"/>
                </a:solidFill>
                <a:latin typeface="Verdana"/>
                <a:cs typeface="Verdana"/>
              </a:rPr>
              <a:t>11</a:t>
            </a:r>
            <a:r>
              <a:rPr sz="1100" spc="-10" dirty="0">
                <a:solidFill>
                  <a:srgbClr val="474848"/>
                </a:solidFill>
                <a:latin typeface="Verdana"/>
                <a:cs typeface="Verdana"/>
              </a:rPr>
              <a:t>:206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684" y="3563620"/>
            <a:ext cx="6847205" cy="160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1860" marR="5080" indent="-2169795">
              <a:lnSpc>
                <a:spcPct val="107600"/>
              </a:lnSpc>
              <a:spcBef>
                <a:spcPts val="100"/>
              </a:spcBef>
              <a:tabLst>
                <a:tab pos="2484120" algn="l"/>
                <a:tab pos="3648710" algn="l"/>
                <a:tab pos="6273165" algn="l"/>
              </a:tabLst>
            </a:pPr>
            <a:r>
              <a:rPr spc="125" dirty="0"/>
              <a:t>Tracking</a:t>
            </a:r>
            <a:r>
              <a:rPr dirty="0"/>
              <a:t>	</a:t>
            </a:r>
            <a:r>
              <a:rPr spc="229" dirty="0"/>
              <a:t>the</a:t>
            </a:r>
            <a:r>
              <a:rPr dirty="0"/>
              <a:t>	</a:t>
            </a:r>
            <a:r>
              <a:rPr spc="-10" dirty="0"/>
              <a:t>evolution</a:t>
            </a:r>
            <a:r>
              <a:rPr dirty="0"/>
              <a:t>	</a:t>
            </a:r>
            <a:r>
              <a:rPr spc="160" dirty="0"/>
              <a:t>of </a:t>
            </a:r>
            <a:r>
              <a:rPr spc="170" dirty="0"/>
              <a:t>influenza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8915" y="1785178"/>
            <a:ext cx="4807585" cy="4626610"/>
            <a:chOff x="468915" y="1785178"/>
            <a:chExt cx="4807585" cy="4626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800" y="1918731"/>
              <a:ext cx="4572000" cy="43688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8915" y="1785178"/>
              <a:ext cx="4807585" cy="4626610"/>
            </a:xfrm>
            <a:custGeom>
              <a:avLst/>
              <a:gdLst/>
              <a:ahLst/>
              <a:cxnLst/>
              <a:rect l="l" t="t" r="r" b="b"/>
              <a:pathLst>
                <a:path w="4807585" h="4626610">
                  <a:moveTo>
                    <a:pt x="0" y="119821"/>
                  </a:moveTo>
                  <a:lnTo>
                    <a:pt x="4807252" y="119821"/>
                  </a:lnTo>
                </a:path>
                <a:path w="4807585" h="4626610">
                  <a:moveTo>
                    <a:pt x="4674584" y="37623"/>
                  </a:moveTo>
                  <a:lnTo>
                    <a:pt x="4674584" y="4626128"/>
                  </a:lnTo>
                </a:path>
                <a:path w="4807585" h="4626610">
                  <a:moveTo>
                    <a:pt x="4767548" y="4514021"/>
                  </a:moveTo>
                  <a:lnTo>
                    <a:pt x="234" y="4514021"/>
                  </a:lnTo>
                </a:path>
                <a:path w="4807585" h="4626610">
                  <a:moveTo>
                    <a:pt x="77184" y="4585776"/>
                  </a:moveTo>
                  <a:lnTo>
                    <a:pt x="7718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82435" y="6242050"/>
            <a:ext cx="222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75" dirty="0">
                <a:latin typeface="Arial"/>
                <a:cs typeface="Arial"/>
              </a:rPr>
              <a:t>(Toda</a:t>
            </a:r>
            <a:r>
              <a:rPr sz="2400" dirty="0">
                <a:latin typeface="Arial"/>
                <a:cs typeface="Arial"/>
              </a:rPr>
              <a:t> et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al.,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2006)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2579" rIns="0" bIns="0" rtlCol="0">
            <a:spAutoFit/>
          </a:bodyPr>
          <a:lstStyle/>
          <a:p>
            <a:pPr marL="2331085">
              <a:lnSpc>
                <a:spcPct val="100000"/>
              </a:lnSpc>
              <a:spcBef>
                <a:spcPts val="100"/>
              </a:spcBef>
            </a:pPr>
            <a:r>
              <a:rPr sz="4200" spc="235" dirty="0"/>
              <a:t>Influenza</a:t>
            </a:r>
            <a:r>
              <a:rPr sz="4200" spc="290" dirty="0"/>
              <a:t> </a:t>
            </a:r>
            <a:r>
              <a:rPr sz="4200" spc="215" dirty="0"/>
              <a:t>Virus</a:t>
            </a:r>
            <a:endParaRPr sz="42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97155">
              <a:lnSpc>
                <a:spcPts val="4100"/>
              </a:lnSpc>
              <a:spcBef>
                <a:spcPts val="420"/>
              </a:spcBef>
            </a:pPr>
            <a:r>
              <a:rPr spc="-240" dirty="0"/>
              <a:t>Rapidly</a:t>
            </a:r>
            <a:r>
              <a:rPr spc="-10" dirty="0"/>
              <a:t> </a:t>
            </a:r>
            <a:r>
              <a:rPr spc="-200" dirty="0"/>
              <a:t>evolving</a:t>
            </a:r>
            <a:r>
              <a:rPr spc="-50" dirty="0"/>
              <a:t> </a:t>
            </a:r>
            <a:r>
              <a:rPr spc="-100" dirty="0"/>
              <a:t>(it’s</a:t>
            </a:r>
            <a:r>
              <a:rPr spc="-50" dirty="0"/>
              <a:t> </a:t>
            </a:r>
            <a:r>
              <a:rPr spc="-254" dirty="0"/>
              <a:t>genome</a:t>
            </a:r>
            <a:r>
              <a:rPr spc="-5" dirty="0"/>
              <a:t> </a:t>
            </a:r>
            <a:r>
              <a:rPr spc="-90" dirty="0"/>
              <a:t>is </a:t>
            </a:r>
            <a:r>
              <a:rPr spc="-60" dirty="0"/>
              <a:t>mutating):</a:t>
            </a:r>
          </a:p>
          <a:p>
            <a:pPr marL="355600" marR="321945">
              <a:lnSpc>
                <a:spcPts val="4100"/>
              </a:lnSpc>
            </a:pPr>
            <a:r>
              <a:rPr spc="-165" dirty="0"/>
              <a:t>that’s</a:t>
            </a:r>
            <a:r>
              <a:rPr spc="-85" dirty="0"/>
              <a:t> </a:t>
            </a:r>
            <a:r>
              <a:rPr spc="-175" dirty="0"/>
              <a:t>why</a:t>
            </a:r>
            <a:r>
              <a:rPr spc="-60" dirty="0"/>
              <a:t> </a:t>
            </a:r>
            <a:r>
              <a:rPr spc="-150" dirty="0"/>
              <a:t>you</a:t>
            </a:r>
            <a:r>
              <a:rPr spc="-55" dirty="0"/>
              <a:t> </a:t>
            </a:r>
            <a:r>
              <a:rPr spc="-350" dirty="0"/>
              <a:t>have</a:t>
            </a:r>
            <a:r>
              <a:rPr spc="-5" dirty="0"/>
              <a:t> </a:t>
            </a:r>
            <a:r>
              <a:rPr spc="90" dirty="0"/>
              <a:t>to</a:t>
            </a:r>
            <a:r>
              <a:rPr spc="-45" dirty="0"/>
              <a:t> </a:t>
            </a:r>
            <a:r>
              <a:rPr spc="-165" dirty="0"/>
              <a:t>get</a:t>
            </a:r>
            <a:r>
              <a:rPr spc="-55" dirty="0"/>
              <a:t> </a:t>
            </a:r>
            <a:r>
              <a:rPr spc="-530" dirty="0"/>
              <a:t>a </a:t>
            </a:r>
            <a:r>
              <a:rPr spc="-80" dirty="0"/>
              <a:t>different</a:t>
            </a:r>
            <a:r>
              <a:rPr spc="-170" dirty="0"/>
              <a:t> </a:t>
            </a:r>
            <a:r>
              <a:rPr dirty="0"/>
              <a:t>flu</a:t>
            </a:r>
            <a:r>
              <a:rPr spc="-220" dirty="0"/>
              <a:t> </a:t>
            </a:r>
            <a:r>
              <a:rPr spc="-80" dirty="0"/>
              <a:t>shot</a:t>
            </a:r>
            <a:r>
              <a:rPr spc="-165" dirty="0"/>
              <a:t> </a:t>
            </a:r>
            <a:r>
              <a:rPr spc="-150" dirty="0"/>
              <a:t>every</a:t>
            </a:r>
            <a:r>
              <a:rPr spc="-100" dirty="0"/>
              <a:t> </a:t>
            </a:r>
            <a:r>
              <a:rPr spc="-160" dirty="0"/>
              <a:t>year</a:t>
            </a:r>
          </a:p>
          <a:p>
            <a:pPr marL="12700" marR="5080">
              <a:lnSpc>
                <a:spcPts val="4100"/>
              </a:lnSpc>
              <a:spcBef>
                <a:spcPts val="4100"/>
              </a:spcBef>
            </a:pPr>
            <a:r>
              <a:rPr dirty="0"/>
              <a:t>3</a:t>
            </a:r>
            <a:r>
              <a:rPr spc="-145" dirty="0"/>
              <a:t> </a:t>
            </a:r>
            <a:r>
              <a:rPr spc="-155" dirty="0"/>
              <a:t>strains</a:t>
            </a:r>
            <a:r>
              <a:rPr spc="-65" dirty="0"/>
              <a:t> </a:t>
            </a:r>
            <a:r>
              <a:rPr spc="-170" dirty="0"/>
              <a:t>must</a:t>
            </a:r>
            <a:r>
              <a:rPr spc="-70" dirty="0"/>
              <a:t> </a:t>
            </a:r>
            <a:r>
              <a:rPr spc="-240" dirty="0"/>
              <a:t>be</a:t>
            </a:r>
            <a:r>
              <a:rPr spc="-10" dirty="0"/>
              <a:t> </a:t>
            </a:r>
            <a:r>
              <a:rPr spc="-190" dirty="0"/>
              <a:t>selected</a:t>
            </a:r>
            <a:r>
              <a:rPr spc="-60" dirty="0"/>
              <a:t> </a:t>
            </a:r>
            <a:r>
              <a:rPr spc="-325" dirty="0"/>
              <a:t>each </a:t>
            </a:r>
            <a:r>
              <a:rPr spc="-204" dirty="0"/>
              <a:t>year</a:t>
            </a:r>
            <a:r>
              <a:rPr spc="-55" dirty="0"/>
              <a:t> </a:t>
            </a:r>
            <a:r>
              <a:rPr spc="90" dirty="0"/>
              <a:t>to</a:t>
            </a:r>
            <a:r>
              <a:rPr spc="-180" dirty="0"/>
              <a:t> </a:t>
            </a:r>
            <a:r>
              <a:rPr spc="-160" dirty="0"/>
              <a:t>include</a:t>
            </a:r>
            <a:r>
              <a:rPr spc="-90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35" dirty="0"/>
              <a:t>the</a:t>
            </a:r>
            <a:r>
              <a:rPr spc="-105" dirty="0"/>
              <a:t> </a:t>
            </a:r>
            <a:r>
              <a:rPr spc="-85" dirty="0"/>
              <a:t>vaccine.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5522" y="7620000"/>
            <a:ext cx="108781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2540" algn="l"/>
                <a:tab pos="6823075" algn="l"/>
              </a:tabLst>
            </a:pPr>
            <a:r>
              <a:rPr sz="4200" spc="-430" dirty="0">
                <a:latin typeface="Arial"/>
                <a:cs typeface="Arial"/>
              </a:rPr>
              <a:t>So,</a:t>
            </a:r>
            <a:r>
              <a:rPr sz="4200" spc="-425" dirty="0">
                <a:latin typeface="Arial"/>
                <a:cs typeface="Arial"/>
              </a:rPr>
              <a:t> </a:t>
            </a:r>
            <a:r>
              <a:rPr sz="4200" spc="-40" dirty="0">
                <a:latin typeface="Arial"/>
                <a:cs typeface="Arial"/>
              </a:rPr>
              <a:t>the</a:t>
            </a:r>
            <a:r>
              <a:rPr sz="4200" spc="-254" dirty="0">
                <a:latin typeface="Arial"/>
                <a:cs typeface="Arial"/>
              </a:rPr>
              <a:t> </a:t>
            </a:r>
            <a:r>
              <a:rPr sz="4200" spc="-110" dirty="0">
                <a:latin typeface="Arial"/>
                <a:cs typeface="Arial"/>
              </a:rPr>
              <a:t>evolution</a:t>
            </a:r>
            <a:r>
              <a:rPr sz="4200" spc="-180" dirty="0">
                <a:latin typeface="Arial"/>
                <a:cs typeface="Arial"/>
              </a:rPr>
              <a:t> </a:t>
            </a:r>
            <a:r>
              <a:rPr sz="4200" dirty="0">
                <a:latin typeface="Arial"/>
                <a:cs typeface="Arial"/>
              </a:rPr>
              <a:t>of</a:t>
            </a:r>
            <a:r>
              <a:rPr sz="4200" spc="-165" dirty="0">
                <a:latin typeface="Arial"/>
                <a:cs typeface="Arial"/>
              </a:rPr>
              <a:t> </a:t>
            </a:r>
            <a:r>
              <a:rPr sz="4200" spc="-40" dirty="0">
                <a:latin typeface="Arial"/>
                <a:cs typeface="Arial"/>
              </a:rPr>
              <a:t>the</a:t>
            </a:r>
            <a:r>
              <a:rPr sz="4200" spc="-170" dirty="0">
                <a:latin typeface="Arial"/>
                <a:cs typeface="Arial"/>
              </a:rPr>
              <a:t> </a:t>
            </a:r>
            <a:r>
              <a:rPr sz="4200" spc="-10" dirty="0">
                <a:latin typeface="Arial"/>
                <a:cs typeface="Arial"/>
              </a:rPr>
              <a:t>virus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290" dirty="0">
                <a:latin typeface="Arial"/>
                <a:cs typeface="Arial"/>
              </a:rPr>
              <a:t>is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195" dirty="0">
                <a:latin typeface="Arial"/>
                <a:cs typeface="Arial"/>
              </a:rPr>
              <a:t>must</a:t>
            </a:r>
            <a:r>
              <a:rPr sz="4200" spc="-70" dirty="0">
                <a:latin typeface="Arial"/>
                <a:cs typeface="Arial"/>
              </a:rPr>
              <a:t> </a:t>
            </a:r>
            <a:r>
              <a:rPr sz="4200" spc="-305" dirty="0">
                <a:latin typeface="Arial"/>
                <a:cs typeface="Arial"/>
              </a:rPr>
              <a:t>be</a:t>
            </a:r>
            <a:r>
              <a:rPr sz="4200" spc="-5" dirty="0">
                <a:latin typeface="Arial"/>
                <a:cs typeface="Arial"/>
              </a:rPr>
              <a:t> </a:t>
            </a:r>
            <a:r>
              <a:rPr sz="4200" spc="-130" dirty="0">
                <a:latin typeface="Arial"/>
                <a:cs typeface="Arial"/>
              </a:rPr>
              <a:t>predicted.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336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Evolutionary</a:t>
            </a:r>
            <a:r>
              <a:rPr spc="375" dirty="0"/>
              <a:t> </a:t>
            </a:r>
            <a:r>
              <a:rPr spc="145" dirty="0"/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977900"/>
            <a:ext cx="5194300" cy="8331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6400" y="2095500"/>
            <a:ext cx="3568700" cy="5715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81478" y="7918450"/>
            <a:ext cx="3457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http://www.amnh.org/exhibitions/darwin/idea/treelg.php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5734" y="3644900"/>
            <a:ext cx="76809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54555" algn="l"/>
                <a:tab pos="4968875" algn="l"/>
              </a:tabLst>
            </a:pPr>
            <a:r>
              <a:rPr spc="80" dirty="0"/>
              <a:t>Protein</a:t>
            </a:r>
            <a:r>
              <a:rPr dirty="0"/>
              <a:t>	</a:t>
            </a:r>
            <a:r>
              <a:rPr spc="245" dirty="0"/>
              <a:t>structure</a:t>
            </a:r>
            <a:r>
              <a:rPr dirty="0"/>
              <a:t>	</a:t>
            </a:r>
            <a:r>
              <a:rPr spc="100" dirty="0"/>
              <a:t>prediction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47" y="558800"/>
            <a:ext cx="57188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0025" algn="l"/>
                <a:tab pos="3533775" algn="l"/>
              </a:tabLst>
            </a:pPr>
            <a:r>
              <a:rPr spc="120" dirty="0"/>
              <a:t>Examples</a:t>
            </a:r>
            <a:r>
              <a:rPr dirty="0"/>
              <a:t>	</a:t>
            </a:r>
            <a:r>
              <a:rPr spc="170" dirty="0"/>
              <a:t>of</a:t>
            </a:r>
            <a:r>
              <a:rPr dirty="0"/>
              <a:t>	</a:t>
            </a:r>
            <a:r>
              <a:rPr spc="95" dirty="0"/>
              <a:t>Proteins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427" y="1414975"/>
            <a:ext cx="1776771" cy="2921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95167" y="1955800"/>
            <a:ext cx="2166620" cy="8585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40"/>
              </a:spcBef>
            </a:pPr>
            <a:r>
              <a:rPr sz="2800" spc="-10" dirty="0">
                <a:latin typeface="Arial"/>
                <a:cs typeface="Arial"/>
              </a:rPr>
              <a:t>Alcohol </a:t>
            </a:r>
            <a:r>
              <a:rPr sz="2800" spc="-204" dirty="0">
                <a:latin typeface="Arial"/>
                <a:cs typeface="Arial"/>
              </a:rPr>
              <a:t>dehydrogenase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020" y="6371463"/>
            <a:ext cx="2046673" cy="1955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68266" y="6743700"/>
            <a:ext cx="3061970" cy="8585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40"/>
              </a:spcBef>
            </a:pPr>
            <a:r>
              <a:rPr sz="2800" spc="-155" dirty="0">
                <a:latin typeface="Arial"/>
                <a:cs typeface="Arial"/>
              </a:rPr>
              <a:t>Trypsin:</a:t>
            </a:r>
            <a:r>
              <a:rPr sz="2800" spc="-26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breaks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down </a:t>
            </a:r>
            <a:r>
              <a:rPr sz="2800" dirty="0">
                <a:latin typeface="Arial"/>
                <a:cs typeface="Arial"/>
              </a:rPr>
              <a:t>other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proteins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3828" y="1644887"/>
            <a:ext cx="2966753" cy="2273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23200" y="5080000"/>
            <a:ext cx="1193800" cy="32385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65186" y="6413500"/>
            <a:ext cx="2855595" cy="8585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40"/>
              </a:spcBef>
            </a:pPr>
            <a:r>
              <a:rPr sz="2800" spc="-165" dirty="0">
                <a:latin typeface="Arial"/>
                <a:cs typeface="Arial"/>
              </a:rPr>
              <a:t>Collagen:</a:t>
            </a:r>
            <a:r>
              <a:rPr sz="2800" spc="-2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forms </a:t>
            </a:r>
            <a:r>
              <a:rPr sz="2800" spc="-135" dirty="0">
                <a:latin typeface="Arial"/>
                <a:cs typeface="Arial"/>
              </a:rPr>
              <a:t>tendons,</a:t>
            </a:r>
            <a:r>
              <a:rPr sz="2800" spc="-270" dirty="0"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bones,</a:t>
            </a:r>
            <a:r>
              <a:rPr sz="2800" spc="-26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etc.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7956" y="8445500"/>
            <a:ext cx="827722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40"/>
              </a:lnSpc>
              <a:spcBef>
                <a:spcPts val="100"/>
              </a:spcBef>
            </a:pPr>
            <a:r>
              <a:rPr sz="2400" spc="-200" dirty="0">
                <a:latin typeface="Arial"/>
                <a:cs typeface="Arial"/>
              </a:rPr>
              <a:t>Examples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of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“Molecules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Month”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Protein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Data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Bank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2840"/>
              </a:lnSpc>
            </a:pP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6"/>
              </a:rPr>
              <a:t>http://www.rcsb.org/pdb/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21000" y="3924300"/>
            <a:ext cx="2159000" cy="19431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93867" y="2882900"/>
            <a:ext cx="4209415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4775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latin typeface="Arial"/>
                <a:cs typeface="Arial"/>
              </a:rPr>
              <a:t>Antibodies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ts val="3279"/>
              </a:lnSpc>
            </a:pPr>
            <a:r>
              <a:rPr sz="2800" spc="-235" dirty="0">
                <a:latin typeface="Arial"/>
                <a:cs typeface="Arial"/>
              </a:rPr>
              <a:t>TATA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DNA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279"/>
              </a:lnSpc>
            </a:pPr>
            <a:r>
              <a:rPr sz="2800" spc="-145" dirty="0">
                <a:latin typeface="Arial"/>
                <a:cs typeface="Arial"/>
              </a:rPr>
              <a:t>binding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protein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7471" y="508000"/>
            <a:ext cx="57188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9105" algn="l"/>
              </a:tabLst>
            </a:pPr>
            <a:r>
              <a:rPr spc="170" dirty="0"/>
              <a:t>Predicting</a:t>
            </a:r>
            <a:r>
              <a:rPr dirty="0"/>
              <a:t>	</a:t>
            </a:r>
            <a:r>
              <a:rPr spc="320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6900" y="3911600"/>
            <a:ext cx="6718300" cy="508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28900" y="2247900"/>
            <a:ext cx="7731125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0" dirty="0">
                <a:latin typeface="Arial"/>
                <a:cs typeface="Arial"/>
              </a:rPr>
              <a:t>Given:</a:t>
            </a:r>
            <a:r>
              <a:rPr sz="2800" spc="-5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ATGAAGATGATAGATGGGGCCCGACAG…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Determine: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8700" y="9207500"/>
            <a:ext cx="10502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Bradley,</a:t>
            </a:r>
            <a:r>
              <a:rPr sz="1200" u="sng" spc="-2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4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P.</a:t>
            </a:r>
            <a:r>
              <a:rPr sz="1200" u="none" spc="-45" dirty="0">
                <a:solidFill>
                  <a:srgbClr val="666666"/>
                </a:solidFill>
                <a:latin typeface="Arial"/>
                <a:cs typeface="Arial"/>
              </a:rPr>
              <a:t>,</a:t>
            </a:r>
            <a:r>
              <a:rPr sz="1200" u="none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Misura</a:t>
            </a:r>
            <a:r>
              <a:rPr sz="1200" u="sng" spc="-1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K.</a:t>
            </a:r>
            <a:r>
              <a:rPr sz="1200" u="sng" spc="-2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M.</a:t>
            </a:r>
            <a:r>
              <a:rPr sz="1200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S.</a:t>
            </a:r>
            <a:r>
              <a:rPr sz="1200" u="none" dirty="0">
                <a:solidFill>
                  <a:srgbClr val="666666"/>
                </a:solidFill>
                <a:latin typeface="Arial"/>
                <a:cs typeface="Arial"/>
              </a:rPr>
              <a:t>,</a:t>
            </a:r>
            <a:r>
              <a:rPr sz="1200" u="none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sz="1200" u="none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Baker</a:t>
            </a:r>
            <a:r>
              <a:rPr sz="1200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D.</a:t>
            </a:r>
            <a:r>
              <a:rPr sz="1200" u="none" spc="-20" dirty="0">
                <a:solidFill>
                  <a:srgbClr val="286290"/>
                </a:solidFill>
                <a:latin typeface="Arial"/>
                <a:cs typeface="Arial"/>
              </a:rPr>
              <a:t> </a:t>
            </a:r>
            <a:r>
              <a:rPr sz="1200" u="none" dirty="0">
                <a:solidFill>
                  <a:srgbClr val="666666"/>
                </a:solidFill>
                <a:latin typeface="Arial"/>
                <a:cs typeface="Arial"/>
              </a:rPr>
              <a:t>(2005).</a:t>
            </a:r>
            <a:r>
              <a:rPr sz="1200" u="none" spc="2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00" b="1" u="sng" spc="-1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Toward</a:t>
            </a:r>
            <a:r>
              <a:rPr sz="1200" b="1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high-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resolution</a:t>
            </a:r>
            <a:r>
              <a:rPr sz="1200" b="1" u="sng" spc="-2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de</a:t>
            </a:r>
            <a:r>
              <a:rPr sz="1200" b="1" u="sng" spc="-1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novo</a:t>
            </a:r>
            <a:r>
              <a:rPr sz="1200" b="1" u="sng" spc="-2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structure</a:t>
            </a:r>
            <a:r>
              <a:rPr sz="1200" b="1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prediction</a:t>
            </a:r>
            <a:r>
              <a:rPr sz="1200" b="1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for</a:t>
            </a:r>
            <a:r>
              <a:rPr sz="1200" b="1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small</a:t>
            </a:r>
            <a:r>
              <a:rPr sz="1200" b="1" u="sng" spc="-2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Arial"/>
                <a:cs typeface="Arial"/>
              </a:rPr>
              <a:t>proteins</a:t>
            </a:r>
            <a:r>
              <a:rPr sz="1200" u="none" dirty="0">
                <a:solidFill>
                  <a:srgbClr val="666666"/>
                </a:solidFill>
                <a:latin typeface="Arial"/>
                <a:cs typeface="Arial"/>
              </a:rPr>
              <a:t>.</a:t>
            </a:r>
            <a:r>
              <a:rPr sz="1200" u="none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Science.</a:t>
            </a:r>
            <a:r>
              <a:rPr sz="1200" u="sng" spc="-2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309</a:t>
            </a:r>
            <a:r>
              <a:rPr sz="1200" u="none" dirty="0">
                <a:solidFill>
                  <a:srgbClr val="666666"/>
                </a:solidFill>
                <a:latin typeface="Arial"/>
                <a:cs typeface="Arial"/>
              </a:rPr>
              <a:t>(5742),</a:t>
            </a:r>
            <a:r>
              <a:rPr sz="1200" u="none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00" u="none" spc="-10" dirty="0">
                <a:solidFill>
                  <a:srgbClr val="666666"/>
                </a:solidFill>
                <a:latin typeface="Arial"/>
                <a:cs typeface="Arial"/>
              </a:rPr>
              <a:t>1868-</a:t>
            </a:r>
            <a:r>
              <a:rPr sz="1200" u="none" spc="-25" dirty="0">
                <a:solidFill>
                  <a:srgbClr val="666666"/>
                </a:solidFill>
                <a:latin typeface="Arial"/>
                <a:cs typeface="Arial"/>
              </a:rPr>
              <a:t>71.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598" y="1273424"/>
            <a:ext cx="9857902" cy="7692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197" y="260350"/>
            <a:ext cx="4282440" cy="774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62230">
              <a:lnSpc>
                <a:spcPts val="2900"/>
              </a:lnSpc>
              <a:spcBef>
                <a:spcPts val="280"/>
              </a:spcBef>
            </a:pPr>
            <a:r>
              <a:rPr sz="2500" spc="-110" dirty="0">
                <a:solidFill>
                  <a:srgbClr val="0056D6"/>
                </a:solidFill>
                <a:latin typeface="Arial"/>
                <a:cs typeface="Arial"/>
              </a:rPr>
              <a:t>blue</a:t>
            </a:r>
            <a:r>
              <a:rPr sz="2500" spc="-55" dirty="0">
                <a:solidFill>
                  <a:srgbClr val="0056D6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sz="250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spc="-85" dirty="0">
                <a:solidFill>
                  <a:srgbClr val="000000"/>
                </a:solidFill>
                <a:latin typeface="Arial"/>
                <a:cs typeface="Arial"/>
              </a:rPr>
              <a:t>computational</a:t>
            </a:r>
            <a:r>
              <a:rPr sz="250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00000"/>
                </a:solidFill>
                <a:latin typeface="Arial"/>
                <a:cs typeface="Arial"/>
              </a:rPr>
              <a:t>prediction </a:t>
            </a:r>
            <a:r>
              <a:rPr sz="2500" spc="-20" dirty="0">
                <a:latin typeface="Arial"/>
                <a:cs typeface="Arial"/>
              </a:rPr>
              <a:t>red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sz="250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spc="-90" dirty="0">
                <a:solidFill>
                  <a:srgbClr val="000000"/>
                </a:solidFill>
                <a:latin typeface="Arial"/>
                <a:cs typeface="Arial"/>
              </a:rPr>
              <a:t>experimentally</a:t>
            </a:r>
            <a:r>
              <a:rPr sz="2500" spc="-80" dirty="0">
                <a:solidFill>
                  <a:srgbClr val="000000"/>
                </a:solidFill>
                <a:latin typeface="Arial"/>
                <a:cs typeface="Arial"/>
              </a:rPr>
              <a:t> determined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482600"/>
            <a:ext cx="8216900" cy="26578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44850" y="2159000"/>
            <a:ext cx="71291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u="sng" spc="-13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http://boinc.bakerlab.org/rosetta/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9550" y="4495800"/>
            <a:ext cx="41579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http://fold.it/portal/</a:t>
            </a:r>
            <a:endParaRPr sz="4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6100" y="4254500"/>
            <a:ext cx="2908300" cy="1219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0719" y="6007100"/>
            <a:ext cx="11114342" cy="28956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29700" y="4743450"/>
            <a:ext cx="333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Cooper,</a:t>
            </a:r>
            <a:r>
              <a:rPr sz="1200" u="sng" spc="-1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Khatib</a:t>
            </a:r>
            <a:r>
              <a:rPr sz="1200" u="sng" spc="-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et</a:t>
            </a:r>
            <a:r>
              <a:rPr sz="1200" u="sng" spc="-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al,</a:t>
            </a:r>
            <a:r>
              <a:rPr sz="1200" u="sng" spc="-1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Nature,</a:t>
            </a:r>
            <a:r>
              <a:rPr sz="1200" u="sng" spc="-15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466,</a:t>
            </a:r>
            <a:r>
              <a:rPr sz="1200" u="sng" spc="-1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756-</a:t>
            </a:r>
            <a:r>
              <a:rPr sz="1200" u="sng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60.</a:t>
            </a:r>
            <a:r>
              <a:rPr sz="1200" u="sng" spc="-10" dirty="0">
                <a:solidFill>
                  <a:srgbClr val="286290"/>
                </a:solidFill>
                <a:uFill>
                  <a:solidFill>
                    <a:srgbClr val="286290"/>
                  </a:solidFill>
                </a:uFill>
                <a:latin typeface="Georgia"/>
                <a:cs typeface="Georgia"/>
              </a:rPr>
              <a:t> (2010)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76347-D3A5-E3DC-3773-1987FE79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883" y="533400"/>
            <a:ext cx="8357549" cy="738664"/>
          </a:xfrm>
        </p:spPr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0B574-02C2-666E-DCBB-0B28CF66B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974" y="2286000"/>
            <a:ext cx="5813425" cy="553998"/>
          </a:xfrm>
        </p:spPr>
        <p:txBody>
          <a:bodyPr/>
          <a:lstStyle/>
          <a:p>
            <a:r>
              <a:rPr lang="en-US" dirty="0">
                <a:hlinkClick r:id="rId2"/>
              </a:rPr>
              <a:t>DNA Microarray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7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1568</Words>
  <Application>Microsoft Office PowerPoint</Application>
  <PresentationFormat>Custom</PresentationFormat>
  <Paragraphs>175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Courier New</vt:lpstr>
      <vt:lpstr>Georgia</vt:lpstr>
      <vt:lpstr>Lucida Sans Unicode</vt:lpstr>
      <vt:lpstr>Tahoma</vt:lpstr>
      <vt:lpstr>Times New Roman</vt:lpstr>
      <vt:lpstr>Verdana</vt:lpstr>
      <vt:lpstr>Office Theme</vt:lpstr>
      <vt:lpstr>Bioinformatics</vt:lpstr>
      <vt:lpstr>What does biology have to do with computers?</vt:lpstr>
      <vt:lpstr>Computational Successes:</vt:lpstr>
      <vt:lpstr>Genome assembly</vt:lpstr>
      <vt:lpstr>Genome of the Cow</vt:lpstr>
      <vt:lpstr>We can only read ~ 1000 characters at a time from a random place:</vt:lpstr>
      <vt:lpstr>The Cat only grinned when it saw Alice. Cat  only  when it saw Alice.</vt:lpstr>
      <vt:lpstr>Recent Genomics (DNA)</vt:lpstr>
      <vt:lpstr>Researchers at many institutions are putting together the genomes of many animals.</vt:lpstr>
      <vt:lpstr>Other Sequenced Genomes</vt:lpstr>
      <vt:lpstr>Gene discovery</vt:lpstr>
      <vt:lpstr>PowerPoint Presentation</vt:lpstr>
      <vt:lpstr>Two ways to find genes .</vt:lpstr>
      <vt:lpstr>Some Human Genes</vt:lpstr>
      <vt:lpstr>Estimates for the # of Human Genes</vt:lpstr>
      <vt:lpstr># of Genes in Various Organisms</vt:lpstr>
      <vt:lpstr>Tracking the evolution of influenza</vt:lpstr>
      <vt:lpstr>Influenza Virus</vt:lpstr>
      <vt:lpstr>Evolutionary Trees</vt:lpstr>
      <vt:lpstr>Protein structure prediction</vt:lpstr>
      <vt:lpstr>Examples of Proteins</vt:lpstr>
      <vt:lpstr>Predicting Structure</vt:lpstr>
      <vt:lpstr>blue = computational prediction red = experimentally determined</vt:lpstr>
      <vt:lpstr>PowerPoint Presentation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Pokhrel, Apar</cp:lastModifiedBy>
  <cp:revision>2</cp:revision>
  <dcterms:created xsi:type="dcterms:W3CDTF">2025-06-16T16:52:45Z</dcterms:created>
  <dcterms:modified xsi:type="dcterms:W3CDTF">2025-06-16T17:10:36Z</dcterms:modified>
</cp:coreProperties>
</file>