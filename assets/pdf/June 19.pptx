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6" r:id="rId4"/>
  </p:sldMasterIdLst>
  <p:notesMasterIdLst>
    <p:notesMasterId r:id="rId35"/>
  </p:notesMasterIdLst>
  <p:sldIdLst>
    <p:sldId id="256" r:id="rId5"/>
    <p:sldId id="305" r:id="rId6"/>
    <p:sldId id="317" r:id="rId7"/>
    <p:sldId id="350" r:id="rId8"/>
    <p:sldId id="318" r:id="rId9"/>
    <p:sldId id="351" r:id="rId10"/>
    <p:sldId id="326" r:id="rId11"/>
    <p:sldId id="352" r:id="rId12"/>
    <p:sldId id="356" r:id="rId13"/>
    <p:sldId id="353" r:id="rId14"/>
    <p:sldId id="355" r:id="rId15"/>
    <p:sldId id="354" r:id="rId16"/>
    <p:sldId id="363" r:id="rId17"/>
    <p:sldId id="364" r:id="rId18"/>
    <p:sldId id="365" r:id="rId19"/>
    <p:sldId id="369" r:id="rId20"/>
    <p:sldId id="367" r:id="rId21"/>
    <p:sldId id="368" r:id="rId22"/>
    <p:sldId id="366" r:id="rId23"/>
    <p:sldId id="357" r:id="rId24"/>
    <p:sldId id="372" r:id="rId25"/>
    <p:sldId id="370" r:id="rId26"/>
    <p:sldId id="358" r:id="rId27"/>
    <p:sldId id="361" r:id="rId28"/>
    <p:sldId id="360" r:id="rId29"/>
    <p:sldId id="362" r:id="rId30"/>
    <p:sldId id="373" r:id="rId31"/>
    <p:sldId id="374" r:id="rId32"/>
    <p:sldId id="376" r:id="rId33"/>
    <p:sldId id="375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0E0E"/>
    <a:srgbClr val="F47B4A"/>
    <a:srgbClr val="1E8269"/>
    <a:srgbClr val="17ACB5"/>
    <a:srgbClr val="000000"/>
    <a:srgbClr val="FF6B7F"/>
    <a:srgbClr val="80CA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273" autoAdjust="0"/>
  </p:normalViewPr>
  <p:slideViewPr>
    <p:cSldViewPr snapToGrid="0">
      <p:cViewPr varScale="1">
        <p:scale>
          <a:sx n="48" d="100"/>
          <a:sy n="48" d="100"/>
        </p:scale>
        <p:origin x="53" y="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9D6E19-165E-4A66-8A17-C05B2FAA838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6CE9474-03B0-4186-8C81-5BDA4033F5E5}">
      <dgm:prSet/>
      <dgm:spPr/>
      <dgm:t>
        <a:bodyPr/>
        <a:lstStyle/>
        <a:p>
          <a:r>
            <a:rPr lang="en-US" dirty="0"/>
            <a:t>Diabetes</a:t>
          </a:r>
        </a:p>
      </dgm:t>
    </dgm:pt>
    <dgm:pt modelId="{2B7FD781-88A2-4821-9623-7775E1167750}" type="parTrans" cxnId="{DAA41A4E-CE29-43D5-89D3-9B6F67DB21F8}">
      <dgm:prSet/>
      <dgm:spPr/>
      <dgm:t>
        <a:bodyPr/>
        <a:lstStyle/>
        <a:p>
          <a:endParaRPr lang="en-US"/>
        </a:p>
      </dgm:t>
    </dgm:pt>
    <dgm:pt modelId="{2B4E3EDA-2773-439A-B8CE-B14B262A5ED0}" type="sibTrans" cxnId="{DAA41A4E-CE29-43D5-89D3-9B6F67DB21F8}">
      <dgm:prSet/>
      <dgm:spPr/>
      <dgm:t>
        <a:bodyPr/>
        <a:lstStyle/>
        <a:p>
          <a:endParaRPr lang="en-US"/>
        </a:p>
      </dgm:t>
    </dgm:pt>
    <dgm:pt modelId="{F3BA2A5D-5AD4-47FA-A0A5-BFA045941551}">
      <dgm:prSet/>
      <dgm:spPr/>
      <dgm:t>
        <a:bodyPr/>
        <a:lstStyle/>
        <a:p>
          <a:r>
            <a:rPr lang="en-US" dirty="0"/>
            <a:t>Cystic Fibrosis</a:t>
          </a:r>
        </a:p>
      </dgm:t>
    </dgm:pt>
    <dgm:pt modelId="{C33B7309-D934-4A95-82F9-16A6F838FE78}" type="parTrans" cxnId="{B0E29146-1BBD-4485-A046-F72ACCA6351E}">
      <dgm:prSet/>
      <dgm:spPr/>
      <dgm:t>
        <a:bodyPr/>
        <a:lstStyle/>
        <a:p>
          <a:endParaRPr lang="en-US"/>
        </a:p>
      </dgm:t>
    </dgm:pt>
    <dgm:pt modelId="{56A59ADE-D312-4F97-B88D-E287DD579089}" type="sibTrans" cxnId="{B0E29146-1BBD-4485-A046-F72ACCA6351E}">
      <dgm:prSet/>
      <dgm:spPr/>
      <dgm:t>
        <a:bodyPr/>
        <a:lstStyle/>
        <a:p>
          <a:endParaRPr lang="en-US"/>
        </a:p>
      </dgm:t>
    </dgm:pt>
    <dgm:pt modelId="{16A75DF4-1567-4CD5-BE4A-A53C675F8487}">
      <dgm:prSet/>
      <dgm:spPr/>
      <dgm:t>
        <a:bodyPr/>
        <a:lstStyle/>
        <a:p>
          <a:r>
            <a:rPr lang="en-US" dirty="0"/>
            <a:t>Down Syndrome</a:t>
          </a:r>
        </a:p>
      </dgm:t>
    </dgm:pt>
    <dgm:pt modelId="{353D14CF-7C7C-4BB8-B270-9F7FD2E514AE}" type="parTrans" cxnId="{6A992ADA-EED8-41C3-A0DE-D6CF65F4C875}">
      <dgm:prSet/>
      <dgm:spPr/>
      <dgm:t>
        <a:bodyPr/>
        <a:lstStyle/>
        <a:p>
          <a:endParaRPr lang="en-US"/>
        </a:p>
      </dgm:t>
    </dgm:pt>
    <dgm:pt modelId="{AEADA082-E6A4-4D2C-8AD5-A9E36DAA48C3}" type="sibTrans" cxnId="{6A992ADA-EED8-41C3-A0DE-D6CF65F4C875}">
      <dgm:prSet/>
      <dgm:spPr/>
      <dgm:t>
        <a:bodyPr/>
        <a:lstStyle/>
        <a:p>
          <a:endParaRPr lang="en-US"/>
        </a:p>
      </dgm:t>
    </dgm:pt>
    <dgm:pt modelId="{B2AB454F-F4CC-4018-AA53-A45F59B5AD14}">
      <dgm:prSet/>
      <dgm:spPr/>
      <dgm:t>
        <a:bodyPr/>
        <a:lstStyle/>
        <a:p>
          <a:r>
            <a:rPr lang="en-US" dirty="0"/>
            <a:t>Sickle Cell</a:t>
          </a:r>
        </a:p>
      </dgm:t>
    </dgm:pt>
    <dgm:pt modelId="{BBF63626-675A-433C-A4FA-218F2DC5B709}" type="parTrans" cxnId="{93088E89-282A-42F0-AE2D-4CA4760397EE}">
      <dgm:prSet/>
      <dgm:spPr/>
      <dgm:t>
        <a:bodyPr/>
        <a:lstStyle/>
        <a:p>
          <a:endParaRPr lang="en-US"/>
        </a:p>
      </dgm:t>
    </dgm:pt>
    <dgm:pt modelId="{90D1CFAB-347E-48E4-8FB8-854133E13D63}" type="sibTrans" cxnId="{93088E89-282A-42F0-AE2D-4CA4760397EE}">
      <dgm:prSet/>
      <dgm:spPr/>
      <dgm:t>
        <a:bodyPr/>
        <a:lstStyle/>
        <a:p>
          <a:endParaRPr lang="en-US"/>
        </a:p>
      </dgm:t>
    </dgm:pt>
    <dgm:pt modelId="{F3611C86-AEDB-457B-8547-96550A2C37FC}" type="pres">
      <dgm:prSet presAssocID="{8E9D6E19-165E-4A66-8A17-C05B2FAA838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5C0D60A-BA7C-4395-9862-AD51CBB62192}" type="pres">
      <dgm:prSet presAssocID="{D6CE9474-03B0-4186-8C81-5BDA4033F5E5}" presName="hierRoot1" presStyleCnt="0"/>
      <dgm:spPr/>
    </dgm:pt>
    <dgm:pt modelId="{51E02950-FEF8-40C1-8F64-907679735703}" type="pres">
      <dgm:prSet presAssocID="{D6CE9474-03B0-4186-8C81-5BDA4033F5E5}" presName="composite" presStyleCnt="0"/>
      <dgm:spPr/>
    </dgm:pt>
    <dgm:pt modelId="{C697E618-C2D7-4B4A-987C-E53B09A83B23}" type="pres">
      <dgm:prSet presAssocID="{D6CE9474-03B0-4186-8C81-5BDA4033F5E5}" presName="background" presStyleLbl="node0" presStyleIdx="0" presStyleCnt="4"/>
      <dgm:spPr/>
    </dgm:pt>
    <dgm:pt modelId="{FFED992B-8BD2-4D8F-A61D-7F10EC275D0B}" type="pres">
      <dgm:prSet presAssocID="{D6CE9474-03B0-4186-8C81-5BDA4033F5E5}" presName="text" presStyleLbl="fgAcc0" presStyleIdx="0" presStyleCnt="4">
        <dgm:presLayoutVars>
          <dgm:chPref val="3"/>
        </dgm:presLayoutVars>
      </dgm:prSet>
      <dgm:spPr/>
    </dgm:pt>
    <dgm:pt modelId="{5E4B15CE-0750-4D89-87B0-CEF8F6109F2F}" type="pres">
      <dgm:prSet presAssocID="{D6CE9474-03B0-4186-8C81-5BDA4033F5E5}" presName="hierChild2" presStyleCnt="0"/>
      <dgm:spPr/>
    </dgm:pt>
    <dgm:pt modelId="{1B226B42-1E7B-4D42-82E7-A6A7650333ED}" type="pres">
      <dgm:prSet presAssocID="{F3BA2A5D-5AD4-47FA-A0A5-BFA045941551}" presName="hierRoot1" presStyleCnt="0"/>
      <dgm:spPr/>
    </dgm:pt>
    <dgm:pt modelId="{E3E90CC0-5F81-43CE-9D0F-E914F63666C7}" type="pres">
      <dgm:prSet presAssocID="{F3BA2A5D-5AD4-47FA-A0A5-BFA045941551}" presName="composite" presStyleCnt="0"/>
      <dgm:spPr/>
    </dgm:pt>
    <dgm:pt modelId="{B4DADE1B-510E-4DED-AC40-19B832F0E88D}" type="pres">
      <dgm:prSet presAssocID="{F3BA2A5D-5AD4-47FA-A0A5-BFA045941551}" presName="background" presStyleLbl="node0" presStyleIdx="1" presStyleCnt="4"/>
      <dgm:spPr/>
    </dgm:pt>
    <dgm:pt modelId="{96F808D5-36D4-4213-BAD4-51AC6A0D4EC5}" type="pres">
      <dgm:prSet presAssocID="{F3BA2A5D-5AD4-47FA-A0A5-BFA045941551}" presName="text" presStyleLbl="fgAcc0" presStyleIdx="1" presStyleCnt="4">
        <dgm:presLayoutVars>
          <dgm:chPref val="3"/>
        </dgm:presLayoutVars>
      </dgm:prSet>
      <dgm:spPr/>
    </dgm:pt>
    <dgm:pt modelId="{80F1E4CF-017A-44F5-89C7-7E3739BCD5EA}" type="pres">
      <dgm:prSet presAssocID="{F3BA2A5D-5AD4-47FA-A0A5-BFA045941551}" presName="hierChild2" presStyleCnt="0"/>
      <dgm:spPr/>
    </dgm:pt>
    <dgm:pt modelId="{85D7843C-4C43-4F57-9BFB-D42BAE9AA1D5}" type="pres">
      <dgm:prSet presAssocID="{16A75DF4-1567-4CD5-BE4A-A53C675F8487}" presName="hierRoot1" presStyleCnt="0"/>
      <dgm:spPr/>
    </dgm:pt>
    <dgm:pt modelId="{CF6EB7A5-3FF6-42E6-A577-0EA69C9A94A0}" type="pres">
      <dgm:prSet presAssocID="{16A75DF4-1567-4CD5-BE4A-A53C675F8487}" presName="composite" presStyleCnt="0"/>
      <dgm:spPr/>
    </dgm:pt>
    <dgm:pt modelId="{1A36080E-3DC7-49AE-8303-B5AF3BA92740}" type="pres">
      <dgm:prSet presAssocID="{16A75DF4-1567-4CD5-BE4A-A53C675F8487}" presName="background" presStyleLbl="node0" presStyleIdx="2" presStyleCnt="4"/>
      <dgm:spPr/>
    </dgm:pt>
    <dgm:pt modelId="{6261081D-826E-4A79-BDB7-1E11FBFC2246}" type="pres">
      <dgm:prSet presAssocID="{16A75DF4-1567-4CD5-BE4A-A53C675F8487}" presName="text" presStyleLbl="fgAcc0" presStyleIdx="2" presStyleCnt="4">
        <dgm:presLayoutVars>
          <dgm:chPref val="3"/>
        </dgm:presLayoutVars>
      </dgm:prSet>
      <dgm:spPr/>
    </dgm:pt>
    <dgm:pt modelId="{1662FF7F-EFED-48B8-A52B-88D4D661B883}" type="pres">
      <dgm:prSet presAssocID="{16A75DF4-1567-4CD5-BE4A-A53C675F8487}" presName="hierChild2" presStyleCnt="0"/>
      <dgm:spPr/>
    </dgm:pt>
    <dgm:pt modelId="{681A0926-6CE0-49EB-AC00-EE0491382981}" type="pres">
      <dgm:prSet presAssocID="{B2AB454F-F4CC-4018-AA53-A45F59B5AD14}" presName="hierRoot1" presStyleCnt="0"/>
      <dgm:spPr/>
    </dgm:pt>
    <dgm:pt modelId="{266E3AFB-285B-4312-8977-6C291DF0BE37}" type="pres">
      <dgm:prSet presAssocID="{B2AB454F-F4CC-4018-AA53-A45F59B5AD14}" presName="composite" presStyleCnt="0"/>
      <dgm:spPr/>
    </dgm:pt>
    <dgm:pt modelId="{E4636AA1-0292-404D-BC25-24064B9ECEC7}" type="pres">
      <dgm:prSet presAssocID="{B2AB454F-F4CC-4018-AA53-A45F59B5AD14}" presName="background" presStyleLbl="node0" presStyleIdx="3" presStyleCnt="4"/>
      <dgm:spPr/>
    </dgm:pt>
    <dgm:pt modelId="{0794404E-13EC-4257-BA40-63513067AE7F}" type="pres">
      <dgm:prSet presAssocID="{B2AB454F-F4CC-4018-AA53-A45F59B5AD14}" presName="text" presStyleLbl="fgAcc0" presStyleIdx="3" presStyleCnt="4">
        <dgm:presLayoutVars>
          <dgm:chPref val="3"/>
        </dgm:presLayoutVars>
      </dgm:prSet>
      <dgm:spPr/>
    </dgm:pt>
    <dgm:pt modelId="{52D4428F-C1A0-4835-81B6-681C81251A2F}" type="pres">
      <dgm:prSet presAssocID="{B2AB454F-F4CC-4018-AA53-A45F59B5AD14}" presName="hierChild2" presStyleCnt="0"/>
      <dgm:spPr/>
    </dgm:pt>
  </dgm:ptLst>
  <dgm:cxnLst>
    <dgm:cxn modelId="{1ACEC524-C5B0-47F6-AF03-E6583CA5E329}" type="presOf" srcId="{16A75DF4-1567-4CD5-BE4A-A53C675F8487}" destId="{6261081D-826E-4A79-BDB7-1E11FBFC2246}" srcOrd="0" destOrd="0" presId="urn:microsoft.com/office/officeart/2005/8/layout/hierarchy1"/>
    <dgm:cxn modelId="{B0E29146-1BBD-4485-A046-F72ACCA6351E}" srcId="{8E9D6E19-165E-4A66-8A17-C05B2FAA838D}" destId="{F3BA2A5D-5AD4-47FA-A0A5-BFA045941551}" srcOrd="1" destOrd="0" parTransId="{C33B7309-D934-4A95-82F9-16A6F838FE78}" sibTransId="{56A59ADE-D312-4F97-B88D-E287DD579089}"/>
    <dgm:cxn modelId="{DAA41A4E-CE29-43D5-89D3-9B6F67DB21F8}" srcId="{8E9D6E19-165E-4A66-8A17-C05B2FAA838D}" destId="{D6CE9474-03B0-4186-8C81-5BDA4033F5E5}" srcOrd="0" destOrd="0" parTransId="{2B7FD781-88A2-4821-9623-7775E1167750}" sibTransId="{2B4E3EDA-2773-439A-B8CE-B14B262A5ED0}"/>
    <dgm:cxn modelId="{1037B771-43E5-4DB3-ADE0-A6E9A30A1139}" type="presOf" srcId="{8E9D6E19-165E-4A66-8A17-C05B2FAA838D}" destId="{F3611C86-AEDB-457B-8547-96550A2C37FC}" srcOrd="0" destOrd="0" presId="urn:microsoft.com/office/officeart/2005/8/layout/hierarchy1"/>
    <dgm:cxn modelId="{92E5B475-E096-4CF7-A5A7-523C2C1DAB8C}" type="presOf" srcId="{D6CE9474-03B0-4186-8C81-5BDA4033F5E5}" destId="{FFED992B-8BD2-4D8F-A61D-7F10EC275D0B}" srcOrd="0" destOrd="0" presId="urn:microsoft.com/office/officeart/2005/8/layout/hierarchy1"/>
    <dgm:cxn modelId="{93088E89-282A-42F0-AE2D-4CA4760397EE}" srcId="{8E9D6E19-165E-4A66-8A17-C05B2FAA838D}" destId="{B2AB454F-F4CC-4018-AA53-A45F59B5AD14}" srcOrd="3" destOrd="0" parTransId="{BBF63626-675A-433C-A4FA-218F2DC5B709}" sibTransId="{90D1CFAB-347E-48E4-8FB8-854133E13D63}"/>
    <dgm:cxn modelId="{6EB4138A-3338-4E20-8561-BAFFD75542CE}" type="presOf" srcId="{F3BA2A5D-5AD4-47FA-A0A5-BFA045941551}" destId="{96F808D5-36D4-4213-BAD4-51AC6A0D4EC5}" srcOrd="0" destOrd="0" presId="urn:microsoft.com/office/officeart/2005/8/layout/hierarchy1"/>
    <dgm:cxn modelId="{6A992ADA-EED8-41C3-A0DE-D6CF65F4C875}" srcId="{8E9D6E19-165E-4A66-8A17-C05B2FAA838D}" destId="{16A75DF4-1567-4CD5-BE4A-A53C675F8487}" srcOrd="2" destOrd="0" parTransId="{353D14CF-7C7C-4BB8-B270-9F7FD2E514AE}" sibTransId="{AEADA082-E6A4-4D2C-8AD5-A9E36DAA48C3}"/>
    <dgm:cxn modelId="{94CD1CE8-DE56-4C2F-AF7C-C48D5D8C631E}" type="presOf" srcId="{B2AB454F-F4CC-4018-AA53-A45F59B5AD14}" destId="{0794404E-13EC-4257-BA40-63513067AE7F}" srcOrd="0" destOrd="0" presId="urn:microsoft.com/office/officeart/2005/8/layout/hierarchy1"/>
    <dgm:cxn modelId="{9B4B721A-E488-4E65-BF8A-7A7D09DAF006}" type="presParOf" srcId="{F3611C86-AEDB-457B-8547-96550A2C37FC}" destId="{D5C0D60A-BA7C-4395-9862-AD51CBB62192}" srcOrd="0" destOrd="0" presId="urn:microsoft.com/office/officeart/2005/8/layout/hierarchy1"/>
    <dgm:cxn modelId="{CC0025C3-AACA-4C0F-908D-911CEEF2CF7A}" type="presParOf" srcId="{D5C0D60A-BA7C-4395-9862-AD51CBB62192}" destId="{51E02950-FEF8-40C1-8F64-907679735703}" srcOrd="0" destOrd="0" presId="urn:microsoft.com/office/officeart/2005/8/layout/hierarchy1"/>
    <dgm:cxn modelId="{8CF12779-208A-49E8-8F72-5B7ED72BA35A}" type="presParOf" srcId="{51E02950-FEF8-40C1-8F64-907679735703}" destId="{C697E618-C2D7-4B4A-987C-E53B09A83B23}" srcOrd="0" destOrd="0" presId="urn:microsoft.com/office/officeart/2005/8/layout/hierarchy1"/>
    <dgm:cxn modelId="{B2AC0F34-A24E-4590-A496-BAEE010C1997}" type="presParOf" srcId="{51E02950-FEF8-40C1-8F64-907679735703}" destId="{FFED992B-8BD2-4D8F-A61D-7F10EC275D0B}" srcOrd="1" destOrd="0" presId="urn:microsoft.com/office/officeart/2005/8/layout/hierarchy1"/>
    <dgm:cxn modelId="{B0E02F4D-5BA0-4DE9-8DA2-DB6AD63A5389}" type="presParOf" srcId="{D5C0D60A-BA7C-4395-9862-AD51CBB62192}" destId="{5E4B15CE-0750-4D89-87B0-CEF8F6109F2F}" srcOrd="1" destOrd="0" presId="urn:microsoft.com/office/officeart/2005/8/layout/hierarchy1"/>
    <dgm:cxn modelId="{8A17CD42-8B63-4E21-9D5C-B810CA4AEA09}" type="presParOf" srcId="{F3611C86-AEDB-457B-8547-96550A2C37FC}" destId="{1B226B42-1E7B-4D42-82E7-A6A7650333ED}" srcOrd="1" destOrd="0" presId="urn:microsoft.com/office/officeart/2005/8/layout/hierarchy1"/>
    <dgm:cxn modelId="{11BDE0E3-86DC-4041-B4B4-54D3B57EE9AD}" type="presParOf" srcId="{1B226B42-1E7B-4D42-82E7-A6A7650333ED}" destId="{E3E90CC0-5F81-43CE-9D0F-E914F63666C7}" srcOrd="0" destOrd="0" presId="urn:microsoft.com/office/officeart/2005/8/layout/hierarchy1"/>
    <dgm:cxn modelId="{89C2FF61-4B95-4DA1-B3E5-C2F5D4A8B60C}" type="presParOf" srcId="{E3E90CC0-5F81-43CE-9D0F-E914F63666C7}" destId="{B4DADE1B-510E-4DED-AC40-19B832F0E88D}" srcOrd="0" destOrd="0" presId="urn:microsoft.com/office/officeart/2005/8/layout/hierarchy1"/>
    <dgm:cxn modelId="{59595356-52B3-4999-A566-3F71E2554AF5}" type="presParOf" srcId="{E3E90CC0-5F81-43CE-9D0F-E914F63666C7}" destId="{96F808D5-36D4-4213-BAD4-51AC6A0D4EC5}" srcOrd="1" destOrd="0" presId="urn:microsoft.com/office/officeart/2005/8/layout/hierarchy1"/>
    <dgm:cxn modelId="{D88EC848-F2F6-4C9C-B4C7-E261086D0DF4}" type="presParOf" srcId="{1B226B42-1E7B-4D42-82E7-A6A7650333ED}" destId="{80F1E4CF-017A-44F5-89C7-7E3739BCD5EA}" srcOrd="1" destOrd="0" presId="urn:microsoft.com/office/officeart/2005/8/layout/hierarchy1"/>
    <dgm:cxn modelId="{C6A698DC-9522-4735-80C8-53E5378C4C40}" type="presParOf" srcId="{F3611C86-AEDB-457B-8547-96550A2C37FC}" destId="{85D7843C-4C43-4F57-9BFB-D42BAE9AA1D5}" srcOrd="2" destOrd="0" presId="urn:microsoft.com/office/officeart/2005/8/layout/hierarchy1"/>
    <dgm:cxn modelId="{BC4BC776-ECC2-4489-89D2-4689FC4D15AB}" type="presParOf" srcId="{85D7843C-4C43-4F57-9BFB-D42BAE9AA1D5}" destId="{CF6EB7A5-3FF6-42E6-A577-0EA69C9A94A0}" srcOrd="0" destOrd="0" presId="urn:microsoft.com/office/officeart/2005/8/layout/hierarchy1"/>
    <dgm:cxn modelId="{FC58DEB3-78D1-4872-BA7C-791918FE5B64}" type="presParOf" srcId="{CF6EB7A5-3FF6-42E6-A577-0EA69C9A94A0}" destId="{1A36080E-3DC7-49AE-8303-B5AF3BA92740}" srcOrd="0" destOrd="0" presId="urn:microsoft.com/office/officeart/2005/8/layout/hierarchy1"/>
    <dgm:cxn modelId="{DAED10EE-9F89-48E8-BC33-33996F771122}" type="presParOf" srcId="{CF6EB7A5-3FF6-42E6-A577-0EA69C9A94A0}" destId="{6261081D-826E-4A79-BDB7-1E11FBFC2246}" srcOrd="1" destOrd="0" presId="urn:microsoft.com/office/officeart/2005/8/layout/hierarchy1"/>
    <dgm:cxn modelId="{39D39D98-BA9E-47D1-B2E7-BD39312E7299}" type="presParOf" srcId="{85D7843C-4C43-4F57-9BFB-D42BAE9AA1D5}" destId="{1662FF7F-EFED-48B8-A52B-88D4D661B883}" srcOrd="1" destOrd="0" presId="urn:microsoft.com/office/officeart/2005/8/layout/hierarchy1"/>
    <dgm:cxn modelId="{60E7D445-28C2-41ED-A78A-6AEF50D40E2A}" type="presParOf" srcId="{F3611C86-AEDB-457B-8547-96550A2C37FC}" destId="{681A0926-6CE0-49EB-AC00-EE0491382981}" srcOrd="3" destOrd="0" presId="urn:microsoft.com/office/officeart/2005/8/layout/hierarchy1"/>
    <dgm:cxn modelId="{0484B90B-5782-41EF-BA93-B8814CEB71FE}" type="presParOf" srcId="{681A0926-6CE0-49EB-AC00-EE0491382981}" destId="{266E3AFB-285B-4312-8977-6C291DF0BE37}" srcOrd="0" destOrd="0" presId="urn:microsoft.com/office/officeart/2005/8/layout/hierarchy1"/>
    <dgm:cxn modelId="{AA48671F-55DA-4367-BC48-016A74EAAE9C}" type="presParOf" srcId="{266E3AFB-285B-4312-8977-6C291DF0BE37}" destId="{E4636AA1-0292-404D-BC25-24064B9ECEC7}" srcOrd="0" destOrd="0" presId="urn:microsoft.com/office/officeart/2005/8/layout/hierarchy1"/>
    <dgm:cxn modelId="{5A87A639-2762-415F-A00B-C867D6D07CE2}" type="presParOf" srcId="{266E3AFB-285B-4312-8977-6C291DF0BE37}" destId="{0794404E-13EC-4257-BA40-63513067AE7F}" srcOrd="1" destOrd="0" presId="urn:microsoft.com/office/officeart/2005/8/layout/hierarchy1"/>
    <dgm:cxn modelId="{168A336E-DF56-4407-A0BB-5815E3FB42AB}" type="presParOf" srcId="{681A0926-6CE0-49EB-AC00-EE0491382981}" destId="{52D4428F-C1A0-4835-81B6-681C81251A2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97E618-C2D7-4B4A-987C-E53B09A83B23}">
      <dsp:nvSpPr>
        <dsp:cNvPr id="0" name=""/>
        <dsp:cNvSpPr/>
      </dsp:nvSpPr>
      <dsp:spPr>
        <a:xfrm>
          <a:off x="2946" y="1029853"/>
          <a:ext cx="2104012" cy="13360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ED992B-8BD2-4D8F-A61D-7F10EC275D0B}">
      <dsp:nvSpPr>
        <dsp:cNvPr id="0" name=""/>
        <dsp:cNvSpPr/>
      </dsp:nvSpPr>
      <dsp:spPr>
        <a:xfrm>
          <a:off x="236726" y="1251943"/>
          <a:ext cx="2104012" cy="13360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Diabetes</a:t>
          </a:r>
        </a:p>
      </dsp:txBody>
      <dsp:txXfrm>
        <a:off x="275858" y="1291075"/>
        <a:ext cx="2025748" cy="1257784"/>
      </dsp:txXfrm>
    </dsp:sp>
    <dsp:sp modelId="{B4DADE1B-510E-4DED-AC40-19B832F0E88D}">
      <dsp:nvSpPr>
        <dsp:cNvPr id="0" name=""/>
        <dsp:cNvSpPr/>
      </dsp:nvSpPr>
      <dsp:spPr>
        <a:xfrm>
          <a:off x="2574518" y="1029853"/>
          <a:ext cx="2104012" cy="13360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F808D5-36D4-4213-BAD4-51AC6A0D4EC5}">
      <dsp:nvSpPr>
        <dsp:cNvPr id="0" name=""/>
        <dsp:cNvSpPr/>
      </dsp:nvSpPr>
      <dsp:spPr>
        <a:xfrm>
          <a:off x="2808297" y="1251943"/>
          <a:ext cx="2104012" cy="13360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Cystic Fibrosis</a:t>
          </a:r>
        </a:p>
      </dsp:txBody>
      <dsp:txXfrm>
        <a:off x="2847429" y="1291075"/>
        <a:ext cx="2025748" cy="1257784"/>
      </dsp:txXfrm>
    </dsp:sp>
    <dsp:sp modelId="{1A36080E-3DC7-49AE-8303-B5AF3BA92740}">
      <dsp:nvSpPr>
        <dsp:cNvPr id="0" name=""/>
        <dsp:cNvSpPr/>
      </dsp:nvSpPr>
      <dsp:spPr>
        <a:xfrm>
          <a:off x="5146089" y="1029853"/>
          <a:ext cx="2104012" cy="13360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61081D-826E-4A79-BDB7-1E11FBFC2246}">
      <dsp:nvSpPr>
        <dsp:cNvPr id="0" name=""/>
        <dsp:cNvSpPr/>
      </dsp:nvSpPr>
      <dsp:spPr>
        <a:xfrm>
          <a:off x="5379868" y="1251943"/>
          <a:ext cx="2104012" cy="13360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Down Syndrome</a:t>
          </a:r>
        </a:p>
      </dsp:txBody>
      <dsp:txXfrm>
        <a:off x="5419000" y="1291075"/>
        <a:ext cx="2025748" cy="1257784"/>
      </dsp:txXfrm>
    </dsp:sp>
    <dsp:sp modelId="{E4636AA1-0292-404D-BC25-24064B9ECEC7}">
      <dsp:nvSpPr>
        <dsp:cNvPr id="0" name=""/>
        <dsp:cNvSpPr/>
      </dsp:nvSpPr>
      <dsp:spPr>
        <a:xfrm>
          <a:off x="7717661" y="1029853"/>
          <a:ext cx="2104012" cy="13360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94404E-13EC-4257-BA40-63513067AE7F}">
      <dsp:nvSpPr>
        <dsp:cNvPr id="0" name=""/>
        <dsp:cNvSpPr/>
      </dsp:nvSpPr>
      <dsp:spPr>
        <a:xfrm>
          <a:off x="7951440" y="1251943"/>
          <a:ext cx="2104012" cy="13360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Sickle Cell</a:t>
          </a:r>
        </a:p>
      </dsp:txBody>
      <dsp:txXfrm>
        <a:off x="7990572" y="1291075"/>
        <a:ext cx="2025748" cy="12577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1E20B-DE44-464A-B62E-F3676F5FCD28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F38C40-4039-48D7-A9F4-9F2703446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522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opkinscf.org/knowledge/cftr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/>
              </a:rPr>
              <a:t>CFTR - Johns Hopkins Cystic Fibrosis Center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F38C40-4039-48D7-A9F4-9F27034461F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37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Inactivated: Hep A. Flu, Polio, Rabies</a:t>
            </a:r>
          </a:p>
          <a:p>
            <a:r>
              <a:rPr lang="en-US" dirty="0"/>
              <a:t>Live: MMR, Smallpox, chicken pox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F38C40-4039-48D7-A9F4-9F27034461F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15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CB1E4CB7-CB13-4810-BF18-BE31AFC64F93}" type="slidenum">
              <a:rPr lang="en-US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806757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410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3F9AFA87-1417-4992-ABD9-27C3BC8CC883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122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92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41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513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138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349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6/23/2025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258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96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0796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823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3F9AFA87-1417-4992-ABD9-27C3BC8CC883}" type="datetimeFigureOut">
              <a:rPr lang="en-US" smtClean="0"/>
              <a:pPr algn="r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sz="100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CB1E4CB7-CB13-4810-BF18-BE31AFC64F93}" type="slidenum">
              <a:rPr lang="en-US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420148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  <p:sldLayoutId id="2147484028" r:id="rId2"/>
    <p:sldLayoutId id="2147484029" r:id="rId3"/>
    <p:sldLayoutId id="2147484030" r:id="rId4"/>
    <p:sldLayoutId id="2147484031" r:id="rId5"/>
    <p:sldLayoutId id="2147484032" r:id="rId6"/>
    <p:sldLayoutId id="2147484033" r:id="rId7"/>
    <p:sldLayoutId id="2147484034" r:id="rId8"/>
    <p:sldLayoutId id="2147484035" r:id="rId9"/>
    <p:sldLayoutId id="2147484036" r:id="rId10"/>
    <p:sldLayoutId id="2147484037" r:id="rId11"/>
    <p:sldLayoutId id="21474840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csb.org/" TargetMode="External"/><Relationship Id="rId2" Type="http://schemas.openxmlformats.org/officeDocument/2006/relationships/hyperlink" Target="https://www.embl.org/ells/teachingbase/focus-on-insulin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cbi.nlm.nih.gov/gene?Cmd=DetailsSearch&amp;Term=3630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drx.com/healthcare-access/research/how-much-does-insulin-cost-compare-brands" TargetMode="External"/><Relationship Id="rId2" Type="http://schemas.openxmlformats.org/officeDocument/2006/relationships/hyperlink" Target="https://worldpopulationreview.com/country-rankings/cost-of-insulin-by-countr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U-lDXBZofM" TargetMode="External"/><Relationship Id="rId2" Type="http://schemas.openxmlformats.org/officeDocument/2006/relationships/hyperlink" Target="https://www.youtube.com/watch?v=CDw4WPng2i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qausqhqklH0" TargetMode="External"/><Relationship Id="rId5" Type="http://schemas.openxmlformats.org/officeDocument/2006/relationships/hyperlink" Target="https://www.youtube.com/watch?v=xi9FH0gWLn4&amp;t=67s" TargetMode="External"/><Relationship Id="rId4" Type="http://schemas.openxmlformats.org/officeDocument/2006/relationships/hyperlink" Target="https://www.youtube.com/watch?v=y_a7Y2SHTqM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opkinscf.org/knowledge/effects-of-cf/" TargetMode="External"/><Relationship Id="rId2" Type="http://schemas.openxmlformats.org/officeDocument/2006/relationships/hyperlink" Target="https://www.stanfordchildrens.org/content/dam/sch/content-public/pdf/cystic-fibrosis-patient-newsletter.pdf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Timeline_of_human_vaccines" TargetMode="External"/><Relationship Id="rId2" Type="http://schemas.openxmlformats.org/officeDocument/2006/relationships/hyperlink" Target="https://www.cdc.gov/vaccines-children/schedules/index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dc.gov/smallpox/data-research/index.html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8FqlTslU22s" TargetMode="External"/><Relationship Id="rId2" Type="http://schemas.openxmlformats.org/officeDocument/2006/relationships/hyperlink" Target="https://www.youtube.com/watch?v=uVUf_pt7Sh0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historyofvaccines.org/vaccines-101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4LwYOYZyPzw&amp;pp=ygUZaG93IGFyZSB2YWNjaW5lcyBwcm9kdWNlZA%3D%3D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usinessinsider.com/how-long-it-took-to-develop-other-vaccines-in-history-2020-7" TargetMode="External"/><Relationship Id="rId2" Type="http://schemas.openxmlformats.org/officeDocument/2006/relationships/hyperlink" Target="https://www.youtube.com/watch?v=v-NEr3KCug8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A3D0CE2-91FF-49B3-A5D8-181E900D7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AEBD96-C315-4F53-9D9E-0E20E993E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916AAA-66F6-4DFA-88ED-7E27CF6B8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137D43F-BAD6-47F1-AA65-AEEA38A2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512C9B2-6B22-4211-A940-FCD7C2CD0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5F7DB84-CDE7-46F8-90DD-9D048A7D52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8FDEBDB-5859-4B9E-8810-2C5CFED09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1051560" y="942975"/>
            <a:ext cx="9966960" cy="352505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/>
          <a:p>
            <a:pPr algn="ctr"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9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Genetic Disorders,</a:t>
            </a:r>
          </a:p>
          <a:p>
            <a:pPr algn="ctr"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endParaRPr lang="en-US" sz="8900" cap="all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ctr"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9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Vaccine Development, </a:t>
            </a:r>
          </a:p>
          <a:p>
            <a:pPr algn="ctr"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endParaRPr lang="en-US" sz="8900" cap="all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ctr" defTabSz="914400">
              <a:lnSpc>
                <a:spcPct val="8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9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CRISPR, Genomics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1D1A340-723B-4014-B5FE-204F06273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4558589"/>
            <a:ext cx="9144000" cy="0"/>
          </a:xfrm>
          <a:prstGeom prst="line">
            <a:avLst/>
          </a:prstGeom>
          <a:ln w="28575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hape 4"/>
          <p:cNvSpPr/>
          <p:nvPr/>
        </p:nvSpPr>
        <p:spPr>
          <a:xfrm>
            <a:off x="5233492" y="4782642"/>
            <a:ext cx="302419" cy="302419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761970"/>
            <a:endParaRPr lang="en-US" sz="150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C6D2C5-E927-C824-1DC5-5FB2FFA6B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5EBA2-C85B-AC44-0920-7BF993B02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222" y="1407468"/>
            <a:ext cx="5250030" cy="1345115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cs typeface="Aharoni"/>
              </a:rPr>
              <a:t>Genetic disorder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298C7-8E17-4B9E-11EE-1A77A1107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266" y="3279027"/>
            <a:ext cx="10053941" cy="26107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What are some common genetic disorders that you have heard of?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725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B6B5B-244A-1B1F-1EA3-3E0528915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71E90-4CC7-79E4-4A27-461E0B18D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3378" y="1826278"/>
            <a:ext cx="9144000" cy="2798064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latin typeface="Aharoni"/>
                <a:cs typeface="Aharoni"/>
              </a:rPr>
              <a:t>Genetic disorders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384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1CB33-DE68-4C5B-B513-D330414EE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common Examples 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8F64C77F-C365-B409-B164-61E10AC5D8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3504145"/>
              </p:ext>
            </p:extLst>
          </p:nvPr>
        </p:nvGraphicFramePr>
        <p:xfrm>
          <a:off x="1069975" y="2385390"/>
          <a:ext cx="100584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9320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8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EBF08-0F74-D503-23DA-2280F4AF5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4ADB62A-29CA-5AE7-BD69-F7BB7C20B3A3}"/>
              </a:ext>
            </a:extLst>
          </p:cNvPr>
          <p:cNvSpPr txBox="1"/>
          <p:nvPr/>
        </p:nvSpPr>
        <p:spPr>
          <a:xfrm>
            <a:off x="314632" y="285135"/>
            <a:ext cx="115627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Insulin</a:t>
            </a:r>
          </a:p>
          <a:p>
            <a:endParaRPr lang="en-US" sz="4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30DCDE-4357-0FEB-68C6-1A8487050A15}"/>
              </a:ext>
            </a:extLst>
          </p:cNvPr>
          <p:cNvSpPr txBox="1"/>
          <p:nvPr/>
        </p:nvSpPr>
        <p:spPr>
          <a:xfrm>
            <a:off x="639097" y="1362353"/>
            <a:ext cx="1076684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Hormone made by the pancreas, Beta cells in islets of Langerhans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Helps control the level of glucose(sugar) in your blood</a:t>
            </a:r>
            <a:br>
              <a:rPr lang="en-US" sz="2400" b="1" dirty="0"/>
            </a:br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Insulin</a:t>
            </a:r>
            <a:r>
              <a:rPr lang="en-US" sz="2400" dirty="0"/>
              <a:t> lowers your blood sugar level, </a:t>
            </a:r>
            <a:r>
              <a:rPr lang="en-US" sz="2400" b="1" dirty="0"/>
              <a:t>Glucagon</a:t>
            </a:r>
            <a:r>
              <a:rPr lang="en-US" sz="2400" dirty="0"/>
              <a:t> naturally raise it.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Discovered in 1921 by Banting and Best from dog pancreas.</a:t>
            </a:r>
            <a:r>
              <a:rPr lang="en-US" sz="2400" dirty="0">
                <a:hlinkClick r:id="rId2"/>
              </a:rPr>
              <a:t> Focus on: Insulin – EMBL ELLS</a:t>
            </a:r>
            <a:br>
              <a:rPr lang="en-US" sz="2400" dirty="0"/>
            </a:br>
            <a:endParaRPr lang="en-US" sz="2400" dirty="0"/>
          </a:p>
          <a:p>
            <a:br>
              <a:rPr lang="en-US" sz="2400" b="1" dirty="0"/>
            </a:br>
            <a:endParaRPr lang="en-US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8238F9-933F-200F-8A8A-9F12AB6F2B39}"/>
              </a:ext>
            </a:extLst>
          </p:cNvPr>
          <p:cNvSpPr txBox="1"/>
          <p:nvPr/>
        </p:nvSpPr>
        <p:spPr>
          <a:xfrm>
            <a:off x="7844589" y="5886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3"/>
              </a:rPr>
              <a:t>RCSB PDB: Homepage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E3B38A-B21C-3137-BAE4-3B165067DC8D}"/>
              </a:ext>
            </a:extLst>
          </p:cNvPr>
          <p:cNvSpPr txBox="1"/>
          <p:nvPr/>
        </p:nvSpPr>
        <p:spPr>
          <a:xfrm>
            <a:off x="314632" y="63881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INS insulin [Homo sapiens (human)] - Gene - NCBI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911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6F7FB-E70B-26D9-2A63-C9B0E8FB9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3F93450-F4F0-82EB-FC39-11E89205890F}"/>
              </a:ext>
            </a:extLst>
          </p:cNvPr>
          <p:cNvSpPr txBox="1"/>
          <p:nvPr/>
        </p:nvSpPr>
        <p:spPr>
          <a:xfrm>
            <a:off x="314632" y="285135"/>
            <a:ext cx="115627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Types of Diabetes</a:t>
            </a:r>
          </a:p>
          <a:p>
            <a:endParaRPr lang="en-US" sz="4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C07A3C-A7AD-E400-3E6D-0C279C20E0C2}"/>
              </a:ext>
            </a:extLst>
          </p:cNvPr>
          <p:cNvSpPr txBox="1"/>
          <p:nvPr/>
        </p:nvSpPr>
        <p:spPr>
          <a:xfrm>
            <a:off x="639097" y="1362353"/>
            <a:ext cx="107668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2400" dirty="0"/>
            </a:br>
            <a:endParaRPr lang="en-US" sz="2400" dirty="0"/>
          </a:p>
          <a:p>
            <a:br>
              <a:rPr lang="en-US" sz="2400" b="1" dirty="0"/>
            </a:br>
            <a:endParaRPr lang="en-US" sz="24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5A9BD73-3622-447C-E3C3-5C21A6EC1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873606"/>
              </p:ext>
            </p:extLst>
          </p:nvPr>
        </p:nvGraphicFramePr>
        <p:xfrm>
          <a:off x="1213852" y="2594987"/>
          <a:ext cx="9827775" cy="304872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275925">
                  <a:extLst>
                    <a:ext uri="{9D8B030D-6E8A-4147-A177-3AD203B41FA5}">
                      <a16:colId xmlns:a16="http://schemas.microsoft.com/office/drawing/2014/main" val="2624514597"/>
                    </a:ext>
                  </a:extLst>
                </a:gridCol>
                <a:gridCol w="3275925">
                  <a:extLst>
                    <a:ext uri="{9D8B030D-6E8A-4147-A177-3AD203B41FA5}">
                      <a16:colId xmlns:a16="http://schemas.microsoft.com/office/drawing/2014/main" val="3413401653"/>
                    </a:ext>
                  </a:extLst>
                </a:gridCol>
                <a:gridCol w="3275925">
                  <a:extLst>
                    <a:ext uri="{9D8B030D-6E8A-4147-A177-3AD203B41FA5}">
                      <a16:colId xmlns:a16="http://schemas.microsoft.com/office/drawing/2014/main" val="1053835262"/>
                    </a:ext>
                  </a:extLst>
                </a:gridCol>
              </a:tblGrid>
              <a:tr h="758240">
                <a:tc>
                  <a:txBody>
                    <a:bodyPr/>
                    <a:lstStyle/>
                    <a:p>
                      <a:r>
                        <a:rPr lang="en-US" sz="2000" dirty="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What happens?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104963"/>
                  </a:ext>
                </a:extLst>
              </a:tr>
              <a:tr h="758240">
                <a:tc>
                  <a:txBody>
                    <a:bodyPr/>
                    <a:lstStyle/>
                    <a:p>
                      <a:r>
                        <a:rPr lang="en-US" sz="2000" dirty="0"/>
                        <a:t>Type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 insulin produced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High blood sugar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304524"/>
                  </a:ext>
                </a:extLst>
              </a:tr>
              <a:tr h="774008">
                <a:tc>
                  <a:txBody>
                    <a:bodyPr/>
                    <a:lstStyle/>
                    <a:p>
                      <a:r>
                        <a:rPr lang="en-US" sz="2000" dirty="0"/>
                        <a:t>Type 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Insulin produced, but cells don’t respond 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High blood sugar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097533"/>
                  </a:ext>
                </a:extLst>
              </a:tr>
              <a:tr h="758240">
                <a:tc>
                  <a:txBody>
                    <a:bodyPr/>
                    <a:lstStyle/>
                    <a:p>
                      <a:r>
                        <a:rPr lang="en-US" sz="2000" dirty="0"/>
                        <a:t>Hypoglycemia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Too much insulin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Blood sugar too 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152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0118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68A8D-FE3A-2C0F-3798-39ABC549A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E0EED39-00FC-A3B0-2953-6579BF4B8C7A}"/>
              </a:ext>
            </a:extLst>
          </p:cNvPr>
          <p:cNvSpPr txBox="1"/>
          <p:nvPr/>
        </p:nvSpPr>
        <p:spPr>
          <a:xfrm>
            <a:off x="314632" y="285135"/>
            <a:ext cx="115627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The Dark Side of Insulin</a:t>
            </a:r>
          </a:p>
          <a:p>
            <a:endParaRPr lang="en-US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10FE6A-D041-0A1F-44E3-58BC3CEF2C81}"/>
              </a:ext>
            </a:extLst>
          </p:cNvPr>
          <p:cNvSpPr txBox="1"/>
          <p:nvPr/>
        </p:nvSpPr>
        <p:spPr>
          <a:xfrm>
            <a:off x="639097" y="1362353"/>
            <a:ext cx="1076684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Patent for Insulin was sold to U Toronto</a:t>
            </a:r>
          </a:p>
          <a:p>
            <a:r>
              <a:rPr lang="en-US" sz="3200" dirty="0"/>
              <a:t>   for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 </a:t>
            </a:r>
            <a:r>
              <a:rPr lang="en-US" sz="3200" dirty="0">
                <a:hlinkClick r:id="rId2"/>
              </a:rPr>
              <a:t>Cost of Insulin by Country 2025</a:t>
            </a:r>
            <a:br>
              <a:rPr lang="en-US" sz="3200" dirty="0"/>
            </a:b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 Eli Lilly, Novo Nordisk, and Sanofi top manufacturers</a:t>
            </a:r>
            <a:br>
              <a:rPr lang="en-US" sz="3200" dirty="0"/>
            </a:br>
            <a:endParaRPr lang="en-US" sz="3200" dirty="0"/>
          </a:p>
          <a:p>
            <a:endParaRPr lang="en-US" sz="3200" dirty="0"/>
          </a:p>
          <a:p>
            <a:r>
              <a:rPr lang="en-US" sz="3200" dirty="0">
                <a:hlinkClick r:id="rId3"/>
              </a:rPr>
              <a:t>Insulin Costs Plummet: A Decade-Long High Comes to an End - </a:t>
            </a:r>
            <a:r>
              <a:rPr lang="en-US" sz="3200" dirty="0" err="1">
                <a:hlinkClick r:id="rId3"/>
              </a:rPr>
              <a:t>GoodRx</a:t>
            </a:r>
            <a:endParaRPr lang="en-US" sz="3200" dirty="0"/>
          </a:p>
          <a:p>
            <a:br>
              <a:rPr lang="en-US" sz="3200" b="1" dirty="0"/>
            </a:br>
            <a:endParaRPr lang="en-US" sz="3200" b="1" dirty="0"/>
          </a:p>
        </p:txBody>
      </p:sp>
      <p:pic>
        <p:nvPicPr>
          <p:cNvPr id="1028" name="Picture 4" descr="Darth Vader Wallpaper 8k HD for Desktop ID:3646">
            <a:extLst>
              <a:ext uri="{FF2B5EF4-FFF2-40B4-BE49-F238E27FC236}">
                <a16:creationId xmlns:a16="http://schemas.microsoft.com/office/drawing/2014/main" id="{6942D1AF-FE7E-C912-C2B1-36641D471B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2331" y="0"/>
            <a:ext cx="3919502" cy="220472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32925C-3DE6-35E0-2F7B-C29A1FB80E7B}"/>
              </a:ext>
            </a:extLst>
          </p:cNvPr>
          <p:cNvSpPr txBox="1"/>
          <p:nvPr/>
        </p:nvSpPr>
        <p:spPr>
          <a:xfrm>
            <a:off x="1709984" y="1912332"/>
            <a:ext cx="61009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$1</a:t>
            </a:r>
          </a:p>
        </p:txBody>
      </p:sp>
    </p:spTree>
    <p:extLst>
      <p:ext uri="{BB962C8B-B14F-4D97-AF65-F5344CB8AC3E}">
        <p14:creationId xmlns:p14="http://schemas.microsoft.com/office/powerpoint/2010/main" val="2439132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A958C-D37A-2529-7FF3-23BD894EE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68E1-5E11-2A0F-4F0A-5A06F1D86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266" y="3279027"/>
            <a:ext cx="10053941" cy="26107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How is insulin manufactured?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034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27C44-2354-240D-9B76-EA17D0C31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036E1-1B0E-817D-A7AF-AA593716B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266" y="3279027"/>
            <a:ext cx="10053941" cy="26107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Human insulin consists of 51 amino acids, while porcine insulin consists of 30 amino acids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242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0C800F1-E35A-B7CA-21E8-F43F5353B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800" y="0"/>
            <a:ext cx="95504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7468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32D506-2071-D769-185B-309B1D66A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50" y="1273904"/>
            <a:ext cx="11571300" cy="345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313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DA46FF-862F-EE53-F563-6F3C6EDE15AC}"/>
              </a:ext>
            </a:extLst>
          </p:cNvPr>
          <p:cNvSpPr txBox="1"/>
          <p:nvPr/>
        </p:nvSpPr>
        <p:spPr>
          <a:xfrm>
            <a:off x="737936" y="537229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Genetic Engineering</a:t>
            </a:r>
            <a:endParaRPr lang="en-US" dirty="0"/>
          </a:p>
          <a:p>
            <a:endParaRPr lang="en-US" dirty="0">
              <a:hlinkClick r:id="rId3"/>
            </a:endParaRPr>
          </a:p>
          <a:p>
            <a:endParaRPr lang="en-US" dirty="0">
              <a:hlinkClick r:id="rId3"/>
            </a:endParaRPr>
          </a:p>
          <a:p>
            <a:r>
              <a:rPr lang="en-US" dirty="0">
                <a:hlinkClick r:id="rId3"/>
              </a:rPr>
              <a:t>Making synthetic human insulin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4"/>
              </a:rPr>
              <a:t>Why Diabetics Are Making Homemade Insulin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5"/>
              </a:rPr>
              <a:t>Using Gene-Editing to Cure Type 1 Diabetes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6"/>
              </a:rPr>
              <a:t>Genetic Modification Explained || Insulin-Producing Bacteria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780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550AE69-AC86-4188-83E5-A856C4F1D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4CA156-2C9D-4F0C-B229-88D8B5E17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361ED3-EBE5-4EFC-8DA3-D0CE4BF2F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5105087-7F16-4C94-837C-C45445116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F2F3467-E50F-4A91-B27D-E324936A66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678BE03-AC84-4940-A7FD-5B143FE2D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5C28659E-412C-4600-B45E-BAE370BC2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Close-up of purple cells">
            <a:extLst>
              <a:ext uri="{FF2B5EF4-FFF2-40B4-BE49-F238E27FC236}">
                <a16:creationId xmlns:a16="http://schemas.microsoft.com/office/drawing/2014/main" id="{E3BEF150-1845-7492-7868-E6E69DB868B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7601" b="7399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AE95896B-6905-4618-A7DF-DED8A61FB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748BD8C-4984-4138-94CA-2DC5F39DC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blipFill dpi="0" rotWithShape="1">
            <a:blip r:embed="rId7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5">
            <a:extLst>
              <a:ext uri="{FF2B5EF4-FFF2-40B4-BE49-F238E27FC236}">
                <a16:creationId xmlns:a16="http://schemas.microsoft.com/office/drawing/2014/main" id="{C210507A-014E-05D4-0DF5-7842D74B2766}"/>
              </a:ext>
            </a:extLst>
          </p:cNvPr>
          <p:cNvSpPr txBox="1"/>
          <p:nvPr/>
        </p:nvSpPr>
        <p:spPr>
          <a:xfrm>
            <a:off x="1051560" y="1432223"/>
            <a:ext cx="9966960" cy="303580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lIns="91440" tIns="45720" rIns="91440" bIns="45720" numCol="1" spcCol="1270" rtlCol="0" anchor="b" anchorCtr="0">
            <a:normAutofit/>
          </a:bodyPr>
          <a:lstStyle/>
          <a:p>
            <a:pPr marL="0" lvl="0" indent="0" defTabSz="914400">
              <a:lnSpc>
                <a:spcPct val="8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9600" cap="all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Cystic Fibrosis</a:t>
            </a:r>
          </a:p>
        </p:txBody>
      </p:sp>
    </p:spTree>
    <p:extLst>
      <p:ext uri="{BB962C8B-B14F-4D97-AF65-F5344CB8AC3E}">
        <p14:creationId xmlns:p14="http://schemas.microsoft.com/office/powerpoint/2010/main" val="2713411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3F90D-244C-92D4-BC91-4E0DCECE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The fault in our stars movie story - ingdas">
            <a:extLst>
              <a:ext uri="{FF2B5EF4-FFF2-40B4-BE49-F238E27FC236}">
                <a16:creationId xmlns:a16="http://schemas.microsoft.com/office/drawing/2014/main" id="{30B0C95C-9356-200D-F864-2B64619F467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4" y="2093976"/>
            <a:ext cx="5578952" cy="3130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ve Feet Apart (2019) - AZ Movies">
            <a:extLst>
              <a:ext uri="{FF2B5EF4-FFF2-40B4-BE49-F238E27FC236}">
                <a16:creationId xmlns:a16="http://schemas.microsoft.com/office/drawing/2014/main" id="{8C2BF1BF-E6B8-AD19-746A-C25231596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2676" y="2093976"/>
            <a:ext cx="6294684" cy="3214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2490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3717C-A234-030C-EA6B-02D22E8D8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" y="0"/>
            <a:ext cx="10058400" cy="1609344"/>
          </a:xfrm>
        </p:spPr>
        <p:txBody>
          <a:bodyPr/>
          <a:lstStyle/>
          <a:p>
            <a:r>
              <a:rPr lang="en-US" dirty="0"/>
              <a:t>What is CF?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30AAAB-E798-2651-2496-A97C83633668}"/>
              </a:ext>
            </a:extLst>
          </p:cNvPr>
          <p:cNvSpPr txBox="1"/>
          <p:nvPr/>
        </p:nvSpPr>
        <p:spPr>
          <a:xfrm>
            <a:off x="352926" y="1609344"/>
            <a:ext cx="11277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Mutation in the </a:t>
            </a:r>
            <a:r>
              <a:rPr lang="en-US" b="1" dirty="0"/>
              <a:t>Cystic Fibrosis Transmembrane Conductance Regulator </a:t>
            </a:r>
            <a:r>
              <a:rPr lang="en-US" dirty="0"/>
              <a:t>(CFTR) gene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Faculty CFR protein changes how much salt movies in and out cells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Causes thick and sticky mucus and increase salt in sweat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Interruprs function of vital organs, </a:t>
            </a:r>
            <a:r>
              <a:rPr lang="en-US" dirty="0" err="1"/>
              <a:t>esp</a:t>
            </a:r>
            <a:r>
              <a:rPr lang="en-US" dirty="0"/>
              <a:t> the lungs 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Also involves the pancreas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current cure but there have been developments </a:t>
            </a:r>
            <a:r>
              <a:rPr lang="en-US" dirty="0">
                <a:hlinkClick r:id="rId2"/>
              </a:rPr>
              <a:t>cystic-fibrosis-patient-newsletter.pdf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Effects </a:t>
            </a:r>
            <a:r>
              <a:rPr lang="en-US" dirty="0" err="1">
                <a:hlinkClick r:id="rId3"/>
              </a:rPr>
              <a:t>Effects</a:t>
            </a:r>
            <a:r>
              <a:rPr lang="en-US" dirty="0">
                <a:hlinkClick r:id="rId3"/>
              </a:rPr>
              <a:t> of CF - Johns Hopkins Cystic Fibrosis Center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854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tint val="75000"/>
                <a:shade val="58000"/>
                <a:satMod val="120000"/>
              </a:schemeClr>
              <a:schemeClr val="bg1">
                <a:tint val="50000"/>
                <a:shade val="96000"/>
              </a:schemeClr>
            </a:duotone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7" name="Group 5126">
            <a:extLst>
              <a:ext uri="{FF2B5EF4-FFF2-40B4-BE49-F238E27FC236}">
                <a16:creationId xmlns:a16="http://schemas.microsoft.com/office/drawing/2014/main" id="{2A313B03-D361-4EC9-AF52-0B3C1C92C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5128" name="Oval 5127">
              <a:extLst>
                <a:ext uri="{FF2B5EF4-FFF2-40B4-BE49-F238E27FC236}">
                  <a16:creationId xmlns:a16="http://schemas.microsoft.com/office/drawing/2014/main" id="{5E79CB85-A08A-4579-86F6-A8AA97551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29" name="Oval 5128">
              <a:extLst>
                <a:ext uri="{FF2B5EF4-FFF2-40B4-BE49-F238E27FC236}">
                  <a16:creationId xmlns:a16="http://schemas.microsoft.com/office/drawing/2014/main" id="{D6C61C9C-364D-4CB6-B9D1-1A6F50F6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31" name="Freeform: Shape 5130">
            <a:extLst>
              <a:ext uri="{FF2B5EF4-FFF2-40B4-BE49-F238E27FC236}">
                <a16:creationId xmlns:a16="http://schemas.microsoft.com/office/drawing/2014/main" id="{3E9FBC8E-8666-4442-8D7D-B250510CD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84" y="2005"/>
            <a:ext cx="10908632" cy="6853991"/>
          </a:xfrm>
          <a:custGeom>
            <a:avLst/>
            <a:gdLst>
              <a:gd name="connsiteX0" fmla="*/ 9059740 w 10908632"/>
              <a:gd name="connsiteY0" fmla="*/ 0 h 6853991"/>
              <a:gd name="connsiteX1" fmla="*/ 9694921 w 10908632"/>
              <a:gd name="connsiteY1" fmla="*/ 0 h 6853991"/>
              <a:gd name="connsiteX2" fmla="*/ 9825053 w 10908632"/>
              <a:gd name="connsiteY2" fmla="*/ 165594 h 6853991"/>
              <a:gd name="connsiteX3" fmla="*/ 10908632 w 10908632"/>
              <a:gd name="connsiteY3" fmla="*/ 3429000 h 6853991"/>
              <a:gd name="connsiteX4" fmla="*/ 9825053 w 10908632"/>
              <a:gd name="connsiteY4" fmla="*/ 6692406 h 6853991"/>
              <a:gd name="connsiteX5" fmla="*/ 9698072 w 10908632"/>
              <a:gd name="connsiteY5" fmla="*/ 6853991 h 6853991"/>
              <a:gd name="connsiteX6" fmla="*/ 9063562 w 10908632"/>
              <a:gd name="connsiteY6" fmla="*/ 6853991 h 6853991"/>
              <a:gd name="connsiteX7" fmla="*/ 9138428 w 10908632"/>
              <a:gd name="connsiteY7" fmla="*/ 6775466 h 6853991"/>
              <a:gd name="connsiteX8" fmla="*/ 10431379 w 10908632"/>
              <a:gd name="connsiteY8" fmla="*/ 3429000 h 6853991"/>
              <a:gd name="connsiteX9" fmla="*/ 9138428 w 10908632"/>
              <a:gd name="connsiteY9" fmla="*/ 82534 h 6853991"/>
              <a:gd name="connsiteX10" fmla="*/ 2037821 w 10908632"/>
              <a:gd name="connsiteY10" fmla="*/ 0 h 6853991"/>
              <a:gd name="connsiteX11" fmla="*/ 8870811 w 10908632"/>
              <a:gd name="connsiteY11" fmla="*/ 0 h 6853991"/>
              <a:gd name="connsiteX12" fmla="*/ 8877212 w 10908632"/>
              <a:gd name="connsiteY12" fmla="*/ 6103 h 6853991"/>
              <a:gd name="connsiteX13" fmla="*/ 10295021 w 10908632"/>
              <a:gd name="connsiteY13" fmla="*/ 3429000 h 6853991"/>
              <a:gd name="connsiteX14" fmla="*/ 8877212 w 10908632"/>
              <a:gd name="connsiteY14" fmla="*/ 6851897 h 6853991"/>
              <a:gd name="connsiteX15" fmla="*/ 8875015 w 10908632"/>
              <a:gd name="connsiteY15" fmla="*/ 6853991 h 6853991"/>
              <a:gd name="connsiteX16" fmla="*/ 2033617 w 10908632"/>
              <a:gd name="connsiteY16" fmla="*/ 6853991 h 6853991"/>
              <a:gd name="connsiteX17" fmla="*/ 2031421 w 10908632"/>
              <a:gd name="connsiteY17" fmla="*/ 6851897 h 6853991"/>
              <a:gd name="connsiteX18" fmla="*/ 613611 w 10908632"/>
              <a:gd name="connsiteY18" fmla="*/ 3429000 h 6853991"/>
              <a:gd name="connsiteX19" fmla="*/ 2031420 w 10908632"/>
              <a:gd name="connsiteY19" fmla="*/ 6103 h 6853991"/>
              <a:gd name="connsiteX20" fmla="*/ 1213711 w 10908632"/>
              <a:gd name="connsiteY20" fmla="*/ 0 h 6853991"/>
              <a:gd name="connsiteX21" fmla="*/ 1848893 w 10908632"/>
              <a:gd name="connsiteY21" fmla="*/ 0 h 6853991"/>
              <a:gd name="connsiteX22" fmla="*/ 1770204 w 10908632"/>
              <a:gd name="connsiteY22" fmla="*/ 82534 h 6853991"/>
              <a:gd name="connsiteX23" fmla="*/ 477253 w 10908632"/>
              <a:gd name="connsiteY23" fmla="*/ 3429000 h 6853991"/>
              <a:gd name="connsiteX24" fmla="*/ 1770204 w 10908632"/>
              <a:gd name="connsiteY24" fmla="*/ 6775466 h 6853991"/>
              <a:gd name="connsiteX25" fmla="*/ 1845071 w 10908632"/>
              <a:gd name="connsiteY25" fmla="*/ 6853991 h 6853991"/>
              <a:gd name="connsiteX26" fmla="*/ 1210561 w 10908632"/>
              <a:gd name="connsiteY26" fmla="*/ 6853991 h 6853991"/>
              <a:gd name="connsiteX27" fmla="*/ 1083579 w 10908632"/>
              <a:gd name="connsiteY27" fmla="*/ 6692406 h 6853991"/>
              <a:gd name="connsiteX28" fmla="*/ 0 w 10908632"/>
              <a:gd name="connsiteY28" fmla="*/ 3429000 h 6853991"/>
              <a:gd name="connsiteX29" fmla="*/ 1083579 w 10908632"/>
              <a:gd name="connsiteY29" fmla="*/ 165594 h 6853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0908632" h="6853991">
                <a:moveTo>
                  <a:pt x="9059740" y="0"/>
                </a:moveTo>
                <a:lnTo>
                  <a:pt x="9694921" y="0"/>
                </a:lnTo>
                <a:lnTo>
                  <a:pt x="9825053" y="165594"/>
                </a:lnTo>
                <a:cubicBezTo>
                  <a:pt x="10505610" y="1075607"/>
                  <a:pt x="10908632" y="2205238"/>
                  <a:pt x="10908632" y="3429000"/>
                </a:cubicBezTo>
                <a:cubicBezTo>
                  <a:pt x="10908632" y="4652762"/>
                  <a:pt x="10505610" y="5782393"/>
                  <a:pt x="9825053" y="6692406"/>
                </a:cubicBezTo>
                <a:lnTo>
                  <a:pt x="9698072" y="6853991"/>
                </a:lnTo>
                <a:lnTo>
                  <a:pt x="9063562" y="6853991"/>
                </a:lnTo>
                <a:lnTo>
                  <a:pt x="9138428" y="6775466"/>
                </a:lnTo>
                <a:cubicBezTo>
                  <a:pt x="9941761" y="5891604"/>
                  <a:pt x="10431379" y="4717480"/>
                  <a:pt x="10431379" y="3429000"/>
                </a:cubicBezTo>
                <a:cubicBezTo>
                  <a:pt x="10431379" y="2140521"/>
                  <a:pt x="9941761" y="966397"/>
                  <a:pt x="9138428" y="82534"/>
                </a:cubicBezTo>
                <a:close/>
                <a:moveTo>
                  <a:pt x="2037821" y="0"/>
                </a:moveTo>
                <a:lnTo>
                  <a:pt x="8870811" y="0"/>
                </a:lnTo>
                <a:lnTo>
                  <a:pt x="8877212" y="6103"/>
                </a:lnTo>
                <a:cubicBezTo>
                  <a:pt x="9753207" y="882099"/>
                  <a:pt x="10295021" y="2092275"/>
                  <a:pt x="10295021" y="3429000"/>
                </a:cubicBezTo>
                <a:cubicBezTo>
                  <a:pt x="10295021" y="4765725"/>
                  <a:pt x="9753207" y="5975902"/>
                  <a:pt x="8877212" y="6851897"/>
                </a:cubicBezTo>
                <a:lnTo>
                  <a:pt x="8875015" y="6853991"/>
                </a:lnTo>
                <a:lnTo>
                  <a:pt x="2033617" y="6853991"/>
                </a:lnTo>
                <a:lnTo>
                  <a:pt x="2031421" y="6851897"/>
                </a:lnTo>
                <a:cubicBezTo>
                  <a:pt x="1155426" y="5975902"/>
                  <a:pt x="613611" y="4765725"/>
                  <a:pt x="613611" y="3429000"/>
                </a:cubicBezTo>
                <a:cubicBezTo>
                  <a:pt x="613611" y="2092275"/>
                  <a:pt x="1155425" y="882099"/>
                  <a:pt x="2031420" y="6103"/>
                </a:cubicBezTo>
                <a:close/>
                <a:moveTo>
                  <a:pt x="1213711" y="0"/>
                </a:moveTo>
                <a:lnTo>
                  <a:pt x="1848893" y="0"/>
                </a:lnTo>
                <a:lnTo>
                  <a:pt x="1770204" y="82534"/>
                </a:lnTo>
                <a:cubicBezTo>
                  <a:pt x="966871" y="966397"/>
                  <a:pt x="477253" y="2140521"/>
                  <a:pt x="477253" y="3429000"/>
                </a:cubicBezTo>
                <a:cubicBezTo>
                  <a:pt x="477253" y="4717480"/>
                  <a:pt x="966872" y="5891604"/>
                  <a:pt x="1770204" y="6775466"/>
                </a:cubicBezTo>
                <a:lnTo>
                  <a:pt x="1845071" y="6853991"/>
                </a:lnTo>
                <a:lnTo>
                  <a:pt x="1210561" y="6853991"/>
                </a:lnTo>
                <a:lnTo>
                  <a:pt x="1083579" y="6692406"/>
                </a:lnTo>
                <a:cubicBezTo>
                  <a:pt x="403022" y="5782393"/>
                  <a:pt x="0" y="4652762"/>
                  <a:pt x="0" y="3429000"/>
                </a:cubicBezTo>
                <a:cubicBezTo>
                  <a:pt x="0" y="2205238"/>
                  <a:pt x="403022" y="1075607"/>
                  <a:pt x="1083579" y="165594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pic>
        <p:nvPicPr>
          <p:cNvPr id="5122" name="Picture 2" descr="Image of healthy bronchus in the lungs and one with cystic fibrosis. The thick mucus in someone with CF limits air flow.">
            <a:extLst>
              <a:ext uri="{FF2B5EF4-FFF2-40B4-BE49-F238E27FC236}">
                <a16:creationId xmlns:a16="http://schemas.microsoft.com/office/drawing/2014/main" id="{DA976609-36E0-3604-FBC8-729C3D92B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03553" y="818727"/>
            <a:ext cx="3784895" cy="5220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9884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9" name="Group 3078">
            <a:extLst>
              <a:ext uri="{FF2B5EF4-FFF2-40B4-BE49-F238E27FC236}">
                <a16:creationId xmlns:a16="http://schemas.microsoft.com/office/drawing/2014/main" id="{EE6C75A5-F4B8-415F-B4EA-A9AD45087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3080" name="Oval 3079">
              <a:extLst>
                <a:ext uri="{FF2B5EF4-FFF2-40B4-BE49-F238E27FC236}">
                  <a16:creationId xmlns:a16="http://schemas.microsoft.com/office/drawing/2014/main" id="{3D9CC178-C06A-480F-AAFC-127638C29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81" name="Oval 3080">
              <a:extLst>
                <a:ext uri="{FF2B5EF4-FFF2-40B4-BE49-F238E27FC236}">
                  <a16:creationId xmlns:a16="http://schemas.microsoft.com/office/drawing/2014/main" id="{77235C6D-8D65-4BC6-AE0E-523AB3C8D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074" name="Picture 2" descr="CFTR Channel">
            <a:extLst>
              <a:ext uri="{FF2B5EF4-FFF2-40B4-BE49-F238E27FC236}">
                <a16:creationId xmlns:a16="http://schemas.microsoft.com/office/drawing/2014/main" id="{0813651C-1A07-3F21-E676-DDC9FC07D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97" b="10437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1344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FTR cellular processing">
            <a:extLst>
              <a:ext uri="{FF2B5EF4-FFF2-40B4-BE49-F238E27FC236}">
                <a16:creationId xmlns:a16="http://schemas.microsoft.com/office/drawing/2014/main" id="{4C87BFA4-DB48-1124-4B1B-923105C96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305" y="1042737"/>
            <a:ext cx="11430000" cy="452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3716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nheritance pattern for cystic fibrosis">
            <a:extLst>
              <a:ext uri="{FF2B5EF4-FFF2-40B4-BE49-F238E27FC236}">
                <a16:creationId xmlns:a16="http://schemas.microsoft.com/office/drawing/2014/main" id="{2258B648-BD6D-B30D-8C17-C52E10353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0"/>
            <a:ext cx="73675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7686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tint val="75000"/>
                <a:shade val="58000"/>
                <a:satMod val="120000"/>
              </a:schemeClr>
              <a:schemeClr val="bg1">
                <a:tint val="50000"/>
                <a:shade val="96000"/>
              </a:schemeClr>
            </a:duotone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B47142-E809-2D8A-D771-786ABD5D9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7768" y="2906591"/>
            <a:ext cx="4741963" cy="1971964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chemeClr val="tx1"/>
                </a:solidFill>
              </a:rPr>
              <a:t>Vaccines</a:t>
            </a:r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E5821A2D-F010-4C2B-8819-23281D9C7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3"/>
            <a:ext cx="6095695" cy="6857997"/>
          </a:xfrm>
          <a:custGeom>
            <a:avLst/>
            <a:gdLst>
              <a:gd name="connsiteX0" fmla="*/ 3435036 w 6095695"/>
              <a:gd name="connsiteY0" fmla="*/ 0 h 6857997"/>
              <a:gd name="connsiteX1" fmla="*/ 4198562 w 6095695"/>
              <a:gd name="connsiteY1" fmla="*/ 0 h 6857997"/>
              <a:gd name="connsiteX2" fmla="*/ 4365987 w 6095695"/>
              <a:gd name="connsiteY2" fmla="*/ 128761 h 6857997"/>
              <a:gd name="connsiteX3" fmla="*/ 6095695 w 6095695"/>
              <a:gd name="connsiteY3" fmla="*/ 3718209 h 6857997"/>
              <a:gd name="connsiteX4" fmla="*/ 4860911 w 6095695"/>
              <a:gd name="connsiteY4" fmla="*/ 6845880 h 6857997"/>
              <a:gd name="connsiteX5" fmla="*/ 4849107 w 6095695"/>
              <a:gd name="connsiteY5" fmla="*/ 6857997 h 6857997"/>
              <a:gd name="connsiteX6" fmla="*/ 4253869 w 6095695"/>
              <a:gd name="connsiteY6" fmla="*/ 6857997 h 6857997"/>
              <a:gd name="connsiteX7" fmla="*/ 4409441 w 6095695"/>
              <a:gd name="connsiteY7" fmla="*/ 6719623 h 6857997"/>
              <a:gd name="connsiteX8" fmla="*/ 5679794 w 6095695"/>
              <a:gd name="connsiteY8" fmla="*/ 3718209 h 6857997"/>
              <a:gd name="connsiteX9" fmla="*/ 3591563 w 6095695"/>
              <a:gd name="connsiteY9" fmla="*/ 88079 h 6857997"/>
              <a:gd name="connsiteX10" fmla="*/ 0 w 6095695"/>
              <a:gd name="connsiteY10" fmla="*/ 0 h 6857997"/>
              <a:gd name="connsiteX11" fmla="*/ 3177466 w 6095695"/>
              <a:gd name="connsiteY11" fmla="*/ 0 h 6857997"/>
              <a:gd name="connsiteX12" fmla="*/ 3353291 w 6095695"/>
              <a:gd name="connsiteY12" fmla="*/ 88129 h 6857997"/>
              <a:gd name="connsiteX13" fmla="*/ 5560965 w 6095695"/>
              <a:gd name="connsiteY13" fmla="*/ 3718209 h 6857997"/>
              <a:gd name="connsiteX14" fmla="*/ 4325417 w 6095695"/>
              <a:gd name="connsiteY14" fmla="*/ 6637392 h 6857997"/>
              <a:gd name="connsiteX15" fmla="*/ 4077394 w 6095695"/>
              <a:gd name="connsiteY15" fmla="*/ 6857997 h 6857997"/>
              <a:gd name="connsiteX16" fmla="*/ 0 w 6095695"/>
              <a:gd name="connsiteY16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695" h="6857997">
                <a:moveTo>
                  <a:pt x="3435036" y="0"/>
                </a:moveTo>
                <a:lnTo>
                  <a:pt x="4198562" y="0"/>
                </a:lnTo>
                <a:lnTo>
                  <a:pt x="4365987" y="128761"/>
                </a:lnTo>
                <a:cubicBezTo>
                  <a:pt x="5422363" y="981944"/>
                  <a:pt x="6095695" y="2273123"/>
                  <a:pt x="6095695" y="3718209"/>
                </a:cubicBezTo>
                <a:cubicBezTo>
                  <a:pt x="6095695" y="4922447"/>
                  <a:pt x="5628104" y="6019805"/>
                  <a:pt x="4860911" y="6845880"/>
                </a:cubicBezTo>
                <a:lnTo>
                  <a:pt x="4849107" y="6857997"/>
                </a:lnTo>
                <a:lnTo>
                  <a:pt x="4253869" y="6857997"/>
                </a:lnTo>
                <a:lnTo>
                  <a:pt x="4409441" y="6719623"/>
                </a:lnTo>
                <a:cubicBezTo>
                  <a:pt x="5194330" y="5951494"/>
                  <a:pt x="5679794" y="4890334"/>
                  <a:pt x="5679794" y="3718209"/>
                </a:cubicBezTo>
                <a:cubicBezTo>
                  <a:pt x="5679794" y="2179795"/>
                  <a:pt x="4843506" y="832535"/>
                  <a:pt x="3591563" y="88079"/>
                </a:cubicBezTo>
                <a:close/>
                <a:moveTo>
                  <a:pt x="0" y="0"/>
                </a:moveTo>
                <a:lnTo>
                  <a:pt x="3177466" y="0"/>
                </a:lnTo>
                <a:lnTo>
                  <a:pt x="3353291" y="88129"/>
                </a:lnTo>
                <a:cubicBezTo>
                  <a:pt x="4668281" y="787221"/>
                  <a:pt x="5560965" y="2150692"/>
                  <a:pt x="5560965" y="3718209"/>
                </a:cubicBezTo>
                <a:cubicBezTo>
                  <a:pt x="5560965" y="4858221"/>
                  <a:pt x="5088802" y="5890308"/>
                  <a:pt x="4325417" y="6637392"/>
                </a:cubicBezTo>
                <a:lnTo>
                  <a:pt x="4077394" y="6857997"/>
                </a:lnTo>
                <a:lnTo>
                  <a:pt x="0" y="685799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 descr="News Flash • Fayette County, PA • CivicEngage">
            <a:extLst>
              <a:ext uri="{FF2B5EF4-FFF2-40B4-BE49-F238E27FC236}">
                <a16:creationId xmlns:a16="http://schemas.microsoft.com/office/drawing/2014/main" id="{F2B0C576-A185-C3CA-F054-8E32726ED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3396" y="1627602"/>
            <a:ext cx="3573675" cy="3693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28" name="Oval 1027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29" name="Oval 1028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88319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6E1FF-40C5-B251-A99C-0ED2DA3D2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0A5A9-F7F5-B107-6E1D-36F2F9B16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222" y="1407468"/>
            <a:ext cx="5250030" cy="1345115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cs typeface="Aharoni"/>
              </a:rPr>
              <a:t>Genetic disorder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DFA3D-73CB-EF29-B51E-5B5D3A6DD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266" y="3279027"/>
            <a:ext cx="10053941" cy="26107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What are some common vaccines that you know?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B17CB5-C758-E1FB-EA3F-FA5E798B31F7}"/>
              </a:ext>
            </a:extLst>
          </p:cNvPr>
          <p:cNvSpPr txBox="1"/>
          <p:nvPr/>
        </p:nvSpPr>
        <p:spPr>
          <a:xfrm>
            <a:off x="5751871" y="57051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Vaccine Schedules | Childhood Vaccines | CDC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66582-494B-E045-69E5-FFD826154863}"/>
              </a:ext>
            </a:extLst>
          </p:cNvPr>
          <p:cNvSpPr txBox="1"/>
          <p:nvPr/>
        </p:nvSpPr>
        <p:spPr>
          <a:xfrm>
            <a:off x="420222" y="56706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Timeline of human vaccines - Wikipedia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4FAFD7-FB99-CAC8-0222-F969BFB6FDC2}"/>
              </a:ext>
            </a:extLst>
          </p:cNvPr>
          <p:cNvSpPr txBox="1"/>
          <p:nvPr/>
        </p:nvSpPr>
        <p:spPr>
          <a:xfrm>
            <a:off x="8072207" y="1397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Smallpox Research | Smallpox | CDC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1286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B421BD-1A3F-3B3B-0A4A-6DD182D40695}"/>
              </a:ext>
            </a:extLst>
          </p:cNvPr>
          <p:cNvSpPr txBox="1"/>
          <p:nvPr/>
        </p:nvSpPr>
        <p:spPr>
          <a:xfrm>
            <a:off x="3048000" y="324679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Antibiotics, Antivirals, and Vaccines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Viruses (Updated)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5599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26889-C7D2-D5E8-9522-9E3AFDCD6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BA6392E-4DB5-98A4-11F0-C6A2C808CFF1}"/>
              </a:ext>
            </a:extLst>
          </p:cNvPr>
          <p:cNvSpPr txBox="1"/>
          <p:nvPr/>
        </p:nvSpPr>
        <p:spPr>
          <a:xfrm>
            <a:off x="314632" y="285135"/>
            <a:ext cx="115627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Types of Vaccines</a:t>
            </a:r>
          </a:p>
          <a:p>
            <a:endParaRPr lang="en-US" sz="4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9E80BB-CE42-2155-BFE4-94EA0FDCE4CD}"/>
              </a:ext>
            </a:extLst>
          </p:cNvPr>
          <p:cNvSpPr txBox="1"/>
          <p:nvPr/>
        </p:nvSpPr>
        <p:spPr>
          <a:xfrm>
            <a:off x="879728" y="2132374"/>
            <a:ext cx="1076684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Inactivated vaccines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Live-attenuated vaccines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Subunit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Toxoid</a:t>
            </a:r>
            <a:br>
              <a:rPr lang="en-US" sz="3200" b="1" dirty="0"/>
            </a:b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Messenger RNA (mRNA) vaccines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b="1" dirty="0"/>
          </a:p>
          <a:p>
            <a:br>
              <a:rPr lang="en-US" sz="3200" dirty="0"/>
            </a:br>
            <a:endParaRPr lang="en-US" sz="3200" dirty="0"/>
          </a:p>
          <a:p>
            <a:br>
              <a:rPr lang="en-US" sz="3200" b="1" dirty="0"/>
            </a:br>
            <a:endParaRPr lang="en-US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CD5117-7601-7A50-232C-C62D3C2D4623}"/>
              </a:ext>
            </a:extLst>
          </p:cNvPr>
          <p:cNvSpPr txBox="1"/>
          <p:nvPr/>
        </p:nvSpPr>
        <p:spPr>
          <a:xfrm>
            <a:off x="7816645" y="2851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Vaccines 101 | History of Vaccines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2D1553-D451-8129-57D9-D6E956A182ED}"/>
              </a:ext>
            </a:extLst>
          </p:cNvPr>
          <p:cNvSpPr txBox="1"/>
          <p:nvPr/>
        </p:nvSpPr>
        <p:spPr>
          <a:xfrm rot="10800000" flipV="1">
            <a:off x="7952744" y="855101"/>
            <a:ext cx="36938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How Are Vaccines Actually Made - YouTube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1918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6880C-D3F9-F2A0-02D2-F844E1D25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Vaccines Topics Four images working 02">
            <a:extLst>
              <a:ext uri="{FF2B5EF4-FFF2-40B4-BE49-F238E27FC236}">
                <a16:creationId xmlns:a16="http://schemas.microsoft.com/office/drawing/2014/main" id="{B7EBFE75-6DA4-DC94-7927-EED399D12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14284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53998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4BB9E-F721-1D2D-4DF5-9C6E0A381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Vaccines topic 2 01 Vaccine Antigens">
            <a:extLst>
              <a:ext uri="{FF2B5EF4-FFF2-40B4-BE49-F238E27FC236}">
                <a16:creationId xmlns:a16="http://schemas.microsoft.com/office/drawing/2014/main" id="{81EE745F-9995-5543-A2CD-4209B583B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14284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04470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11D11-C57F-D0F7-C162-7D6CE31B3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Vaccines Topics Four images working 01">
            <a:extLst>
              <a:ext uri="{FF2B5EF4-FFF2-40B4-BE49-F238E27FC236}">
                <a16:creationId xmlns:a16="http://schemas.microsoft.com/office/drawing/2014/main" id="{D0F1EB37-0D26-3262-8B22-563A3F107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14284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6674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383F2-745C-C66F-16FF-4893839E6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FE529-9ADE-7E0C-0B9B-A1B72D2A8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Vaccines Topics Four images working 03">
            <a:extLst>
              <a:ext uri="{FF2B5EF4-FFF2-40B4-BE49-F238E27FC236}">
                <a16:creationId xmlns:a16="http://schemas.microsoft.com/office/drawing/2014/main" id="{1EC9C602-27EF-D154-914B-7279C2944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14284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9967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F2F41-7A1D-AE03-71D2-9A6ED06BD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Vaccines Topics Four images working 04">
            <a:extLst>
              <a:ext uri="{FF2B5EF4-FFF2-40B4-BE49-F238E27FC236}">
                <a16:creationId xmlns:a16="http://schemas.microsoft.com/office/drawing/2014/main" id="{FE195D1D-47E1-4CE2-1BF0-AED2E55AF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14284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59726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70EB4-DFC4-25E6-E9AB-0E275ABA9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FE4E0-48C9-FA3E-1C6E-46896D824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266" y="3279027"/>
            <a:ext cx="10053941" cy="26107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How long does it take to make a vaccine?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935447-E4D2-92E3-5558-B893B7267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DCCE96-ECC1-45DF-F80E-7EF19E3A1AD5}"/>
              </a:ext>
            </a:extLst>
          </p:cNvPr>
          <p:cNvSpPr txBox="1"/>
          <p:nvPr/>
        </p:nvSpPr>
        <p:spPr>
          <a:xfrm>
            <a:off x="6093236" y="500050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(174) How the COVID-19 vaccines were created so quickly - Kaitlyn Sadtler and Elizabeth Wayne - YouTube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8A98CF-453C-DFF4-6C20-930606E55FCD}"/>
              </a:ext>
            </a:extLst>
          </p:cNvPr>
          <p:cNvSpPr txBox="1"/>
          <p:nvPr/>
        </p:nvSpPr>
        <p:spPr>
          <a:xfrm>
            <a:off x="-2764" y="605020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How Long It Took to Develop Other Vaccines in History - Business Insider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8104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3C287C8-9698-BF3F-06A3-497FCA6C8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9006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819DC71CB78142B17D73748BA19D02" ma:contentTypeVersion="5" ma:contentTypeDescription="Create a new document." ma:contentTypeScope="" ma:versionID="b5f4bd3f208f5acce3db05e327dc42b9">
  <xsd:schema xmlns:xsd="http://www.w3.org/2001/XMLSchema" xmlns:xs="http://www.w3.org/2001/XMLSchema" xmlns:p="http://schemas.microsoft.com/office/2006/metadata/properties" xmlns:ns2="63100cb2-e765-4ca3-9e76-d9d6fe143db6" targetNamespace="http://schemas.microsoft.com/office/2006/metadata/properties" ma:root="true" ma:fieldsID="e3204874f9a31d81920980f605117804" ns2:_="">
    <xsd:import namespace="63100cb2-e765-4ca3-9e76-d9d6fe143db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100cb2-e765-4ca3-9e76-d9d6fe143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BF38FA8-8FBD-4CD8-B930-555B23C1097E}">
  <ds:schemaRefs>
    <ds:schemaRef ds:uri="63100cb2-e765-4ca3-9e76-d9d6fe143db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C581A2B-4998-4987-BF32-C1D9F0B06EF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30C1CB-6463-453E-86CC-0880E7D99260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1672</TotalTime>
  <Words>466</Words>
  <Application>Microsoft Office PowerPoint</Application>
  <PresentationFormat>Widescreen</PresentationFormat>
  <Paragraphs>101</Paragraphs>
  <Slides>30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Aharoni</vt:lpstr>
      <vt:lpstr>Aptos</vt:lpstr>
      <vt:lpstr>Arial</vt:lpstr>
      <vt:lpstr>Calibri</vt:lpstr>
      <vt:lpstr>Rockwell</vt:lpstr>
      <vt:lpstr>Rockwell Condensed</vt:lpstr>
      <vt:lpstr>Wingdings</vt:lpstr>
      <vt:lpstr>Wood Type</vt:lpstr>
      <vt:lpstr>PowerPoint Presentation</vt:lpstr>
      <vt:lpstr>Genetic disorder</vt:lpstr>
      <vt:lpstr>Genetic disorders</vt:lpstr>
      <vt:lpstr>common Examples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CF?</vt:lpstr>
      <vt:lpstr>PowerPoint Presentation</vt:lpstr>
      <vt:lpstr>PowerPoint Presentation</vt:lpstr>
      <vt:lpstr>PowerPoint Presentation</vt:lpstr>
      <vt:lpstr>PowerPoint Presentation</vt:lpstr>
      <vt:lpstr>Vaccines</vt:lpstr>
      <vt:lpstr>Genetic disorder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Uzumaki ap</dc:creator>
  <cp:lastModifiedBy>Pokhrel, Apar</cp:lastModifiedBy>
  <cp:revision>223</cp:revision>
  <dcterms:created xsi:type="dcterms:W3CDTF">2021-02-08T16:02:51Z</dcterms:created>
  <dcterms:modified xsi:type="dcterms:W3CDTF">2025-06-23T19:51:47Z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0x01010074819DC71CB78142B17D73748BA19D02</vt:lpwstr>
  </property>
</Properties>
</file>