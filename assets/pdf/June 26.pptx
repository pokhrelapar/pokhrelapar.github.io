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4"/>
  </p:sldMasterIdLst>
  <p:notesMasterIdLst>
    <p:notesMasterId r:id="rId34"/>
  </p:notesMasterIdLst>
  <p:sldIdLst>
    <p:sldId id="256" r:id="rId5"/>
    <p:sldId id="377" r:id="rId6"/>
    <p:sldId id="350" r:id="rId7"/>
    <p:sldId id="317" r:id="rId8"/>
    <p:sldId id="351" r:id="rId9"/>
    <p:sldId id="326" r:id="rId10"/>
    <p:sldId id="352" r:id="rId11"/>
    <p:sldId id="356" r:id="rId12"/>
    <p:sldId id="353" r:id="rId13"/>
    <p:sldId id="355" r:id="rId14"/>
    <p:sldId id="354" r:id="rId15"/>
    <p:sldId id="363" r:id="rId16"/>
    <p:sldId id="364" r:id="rId17"/>
    <p:sldId id="365" r:id="rId18"/>
    <p:sldId id="369" r:id="rId19"/>
    <p:sldId id="367" r:id="rId20"/>
    <p:sldId id="368" r:id="rId21"/>
    <p:sldId id="366" r:id="rId22"/>
    <p:sldId id="357" r:id="rId23"/>
    <p:sldId id="372" r:id="rId24"/>
    <p:sldId id="370" r:id="rId25"/>
    <p:sldId id="358" r:id="rId26"/>
    <p:sldId id="361" r:id="rId27"/>
    <p:sldId id="360" r:id="rId28"/>
    <p:sldId id="362" r:id="rId29"/>
    <p:sldId id="373" r:id="rId30"/>
    <p:sldId id="374" r:id="rId31"/>
    <p:sldId id="376" r:id="rId32"/>
    <p:sldId id="37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E0E"/>
    <a:srgbClr val="F47B4A"/>
    <a:srgbClr val="1E8269"/>
    <a:srgbClr val="17ACB5"/>
    <a:srgbClr val="000000"/>
    <a:srgbClr val="FF6B7F"/>
    <a:srgbClr val="80C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73" autoAdjust="0"/>
  </p:normalViewPr>
  <p:slideViewPr>
    <p:cSldViewPr snapToGrid="0">
      <p:cViewPr varScale="1">
        <p:scale>
          <a:sx n="48" d="100"/>
          <a:sy n="48" d="100"/>
        </p:scale>
        <p:origin x="53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D6E19-165E-4A66-8A17-C05B2FAA838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CE9474-03B0-4186-8C81-5BDA4033F5E5}">
      <dgm:prSet/>
      <dgm:spPr/>
      <dgm:t>
        <a:bodyPr/>
        <a:lstStyle/>
        <a:p>
          <a:r>
            <a:rPr lang="en-US" dirty="0"/>
            <a:t>ALS</a:t>
          </a:r>
        </a:p>
      </dgm:t>
    </dgm:pt>
    <dgm:pt modelId="{2B7FD781-88A2-4821-9623-7775E1167750}" type="parTrans" cxnId="{DAA41A4E-CE29-43D5-89D3-9B6F67DB21F8}">
      <dgm:prSet/>
      <dgm:spPr/>
      <dgm:t>
        <a:bodyPr/>
        <a:lstStyle/>
        <a:p>
          <a:endParaRPr lang="en-US"/>
        </a:p>
      </dgm:t>
    </dgm:pt>
    <dgm:pt modelId="{2B4E3EDA-2773-439A-B8CE-B14B262A5ED0}" type="sibTrans" cxnId="{DAA41A4E-CE29-43D5-89D3-9B6F67DB21F8}">
      <dgm:prSet/>
      <dgm:spPr/>
      <dgm:t>
        <a:bodyPr/>
        <a:lstStyle/>
        <a:p>
          <a:endParaRPr lang="en-US"/>
        </a:p>
      </dgm:t>
    </dgm:pt>
    <dgm:pt modelId="{F3BA2A5D-5AD4-47FA-A0A5-BFA045941551}">
      <dgm:prSet/>
      <dgm:spPr/>
      <dgm:t>
        <a:bodyPr/>
        <a:lstStyle/>
        <a:p>
          <a:r>
            <a:rPr lang="en-US" b="0" i="0" dirty="0" err="1"/>
            <a:t>Cyanoa</a:t>
          </a:r>
          <a:endParaRPr lang="en-US" b="0" i="0" dirty="0"/>
        </a:p>
        <a:p>
          <a:r>
            <a:rPr lang="en-US" b="0" i="0" dirty="0" err="1"/>
            <a:t>crylate</a:t>
          </a:r>
          <a:endParaRPr lang="en-US" b="0" dirty="0"/>
        </a:p>
      </dgm:t>
    </dgm:pt>
    <dgm:pt modelId="{C33B7309-D934-4A95-82F9-16A6F838FE78}" type="parTrans" cxnId="{B0E29146-1BBD-4485-A046-F72ACCA6351E}">
      <dgm:prSet/>
      <dgm:spPr/>
      <dgm:t>
        <a:bodyPr/>
        <a:lstStyle/>
        <a:p>
          <a:endParaRPr lang="en-US"/>
        </a:p>
      </dgm:t>
    </dgm:pt>
    <dgm:pt modelId="{56A59ADE-D312-4F97-B88D-E287DD579089}" type="sibTrans" cxnId="{B0E29146-1BBD-4485-A046-F72ACCA6351E}">
      <dgm:prSet/>
      <dgm:spPr/>
      <dgm:t>
        <a:bodyPr/>
        <a:lstStyle/>
        <a:p>
          <a:endParaRPr lang="en-US"/>
        </a:p>
      </dgm:t>
    </dgm:pt>
    <dgm:pt modelId="{16A75DF4-1567-4CD5-BE4A-A53C675F8487}">
      <dgm:prSet/>
      <dgm:spPr/>
      <dgm:t>
        <a:bodyPr/>
        <a:lstStyle/>
        <a:p>
          <a:r>
            <a:rPr lang="en-US" dirty="0"/>
            <a:t>Chemical</a:t>
          </a:r>
        </a:p>
      </dgm:t>
    </dgm:pt>
    <dgm:pt modelId="{353D14CF-7C7C-4BB8-B270-9F7FD2E514AE}" type="parTrans" cxnId="{6A992ADA-EED8-41C3-A0DE-D6CF65F4C875}">
      <dgm:prSet/>
      <dgm:spPr/>
      <dgm:t>
        <a:bodyPr/>
        <a:lstStyle/>
        <a:p>
          <a:endParaRPr lang="en-US"/>
        </a:p>
      </dgm:t>
    </dgm:pt>
    <dgm:pt modelId="{AEADA082-E6A4-4D2C-8AD5-A9E36DAA48C3}" type="sibTrans" cxnId="{6A992ADA-EED8-41C3-A0DE-D6CF65F4C875}">
      <dgm:prSet/>
      <dgm:spPr/>
      <dgm:t>
        <a:bodyPr/>
        <a:lstStyle/>
        <a:p>
          <a:endParaRPr lang="en-US"/>
        </a:p>
      </dgm:t>
    </dgm:pt>
    <dgm:pt modelId="{F3611C86-AEDB-457B-8547-96550A2C37FC}" type="pres">
      <dgm:prSet presAssocID="{8E9D6E19-165E-4A66-8A17-C05B2FAA838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C0D60A-BA7C-4395-9862-AD51CBB62192}" type="pres">
      <dgm:prSet presAssocID="{D6CE9474-03B0-4186-8C81-5BDA4033F5E5}" presName="hierRoot1" presStyleCnt="0"/>
      <dgm:spPr/>
    </dgm:pt>
    <dgm:pt modelId="{51E02950-FEF8-40C1-8F64-907679735703}" type="pres">
      <dgm:prSet presAssocID="{D6CE9474-03B0-4186-8C81-5BDA4033F5E5}" presName="composite" presStyleCnt="0"/>
      <dgm:spPr/>
    </dgm:pt>
    <dgm:pt modelId="{C697E618-C2D7-4B4A-987C-E53B09A83B23}" type="pres">
      <dgm:prSet presAssocID="{D6CE9474-03B0-4186-8C81-5BDA4033F5E5}" presName="background" presStyleLbl="node0" presStyleIdx="0" presStyleCnt="3"/>
      <dgm:spPr/>
    </dgm:pt>
    <dgm:pt modelId="{FFED992B-8BD2-4D8F-A61D-7F10EC275D0B}" type="pres">
      <dgm:prSet presAssocID="{D6CE9474-03B0-4186-8C81-5BDA4033F5E5}" presName="text" presStyleLbl="fgAcc0" presStyleIdx="0" presStyleCnt="3">
        <dgm:presLayoutVars>
          <dgm:chPref val="3"/>
        </dgm:presLayoutVars>
      </dgm:prSet>
      <dgm:spPr/>
    </dgm:pt>
    <dgm:pt modelId="{5E4B15CE-0750-4D89-87B0-CEF8F6109F2F}" type="pres">
      <dgm:prSet presAssocID="{D6CE9474-03B0-4186-8C81-5BDA4033F5E5}" presName="hierChild2" presStyleCnt="0"/>
      <dgm:spPr/>
    </dgm:pt>
    <dgm:pt modelId="{1B226B42-1E7B-4D42-82E7-A6A7650333ED}" type="pres">
      <dgm:prSet presAssocID="{F3BA2A5D-5AD4-47FA-A0A5-BFA045941551}" presName="hierRoot1" presStyleCnt="0"/>
      <dgm:spPr/>
    </dgm:pt>
    <dgm:pt modelId="{E3E90CC0-5F81-43CE-9D0F-E914F63666C7}" type="pres">
      <dgm:prSet presAssocID="{F3BA2A5D-5AD4-47FA-A0A5-BFA045941551}" presName="composite" presStyleCnt="0"/>
      <dgm:spPr/>
    </dgm:pt>
    <dgm:pt modelId="{B4DADE1B-510E-4DED-AC40-19B832F0E88D}" type="pres">
      <dgm:prSet presAssocID="{F3BA2A5D-5AD4-47FA-A0A5-BFA045941551}" presName="background" presStyleLbl="node0" presStyleIdx="1" presStyleCnt="3"/>
      <dgm:spPr/>
    </dgm:pt>
    <dgm:pt modelId="{96F808D5-36D4-4213-BAD4-51AC6A0D4EC5}" type="pres">
      <dgm:prSet presAssocID="{F3BA2A5D-5AD4-47FA-A0A5-BFA045941551}" presName="text" presStyleLbl="fgAcc0" presStyleIdx="1" presStyleCnt="3">
        <dgm:presLayoutVars>
          <dgm:chPref val="3"/>
        </dgm:presLayoutVars>
      </dgm:prSet>
      <dgm:spPr/>
    </dgm:pt>
    <dgm:pt modelId="{80F1E4CF-017A-44F5-89C7-7E3739BCD5EA}" type="pres">
      <dgm:prSet presAssocID="{F3BA2A5D-5AD4-47FA-A0A5-BFA045941551}" presName="hierChild2" presStyleCnt="0"/>
      <dgm:spPr/>
    </dgm:pt>
    <dgm:pt modelId="{85D7843C-4C43-4F57-9BFB-D42BAE9AA1D5}" type="pres">
      <dgm:prSet presAssocID="{16A75DF4-1567-4CD5-BE4A-A53C675F8487}" presName="hierRoot1" presStyleCnt="0"/>
      <dgm:spPr/>
    </dgm:pt>
    <dgm:pt modelId="{CF6EB7A5-3FF6-42E6-A577-0EA69C9A94A0}" type="pres">
      <dgm:prSet presAssocID="{16A75DF4-1567-4CD5-BE4A-A53C675F8487}" presName="composite" presStyleCnt="0"/>
      <dgm:spPr/>
    </dgm:pt>
    <dgm:pt modelId="{1A36080E-3DC7-49AE-8303-B5AF3BA92740}" type="pres">
      <dgm:prSet presAssocID="{16A75DF4-1567-4CD5-BE4A-A53C675F8487}" presName="background" presStyleLbl="node0" presStyleIdx="2" presStyleCnt="3"/>
      <dgm:spPr/>
    </dgm:pt>
    <dgm:pt modelId="{6261081D-826E-4A79-BDB7-1E11FBFC2246}" type="pres">
      <dgm:prSet presAssocID="{16A75DF4-1567-4CD5-BE4A-A53C675F8487}" presName="text" presStyleLbl="fgAcc0" presStyleIdx="2" presStyleCnt="3">
        <dgm:presLayoutVars>
          <dgm:chPref val="3"/>
        </dgm:presLayoutVars>
      </dgm:prSet>
      <dgm:spPr/>
    </dgm:pt>
    <dgm:pt modelId="{1662FF7F-EFED-48B8-A52B-88D4D661B883}" type="pres">
      <dgm:prSet presAssocID="{16A75DF4-1567-4CD5-BE4A-A53C675F8487}" presName="hierChild2" presStyleCnt="0"/>
      <dgm:spPr/>
    </dgm:pt>
  </dgm:ptLst>
  <dgm:cxnLst>
    <dgm:cxn modelId="{1ACEC524-C5B0-47F6-AF03-E6583CA5E329}" type="presOf" srcId="{16A75DF4-1567-4CD5-BE4A-A53C675F8487}" destId="{6261081D-826E-4A79-BDB7-1E11FBFC2246}" srcOrd="0" destOrd="0" presId="urn:microsoft.com/office/officeart/2005/8/layout/hierarchy1"/>
    <dgm:cxn modelId="{B0E29146-1BBD-4485-A046-F72ACCA6351E}" srcId="{8E9D6E19-165E-4A66-8A17-C05B2FAA838D}" destId="{F3BA2A5D-5AD4-47FA-A0A5-BFA045941551}" srcOrd="1" destOrd="0" parTransId="{C33B7309-D934-4A95-82F9-16A6F838FE78}" sibTransId="{56A59ADE-D312-4F97-B88D-E287DD579089}"/>
    <dgm:cxn modelId="{DAA41A4E-CE29-43D5-89D3-9B6F67DB21F8}" srcId="{8E9D6E19-165E-4A66-8A17-C05B2FAA838D}" destId="{D6CE9474-03B0-4186-8C81-5BDA4033F5E5}" srcOrd="0" destOrd="0" parTransId="{2B7FD781-88A2-4821-9623-7775E1167750}" sibTransId="{2B4E3EDA-2773-439A-B8CE-B14B262A5ED0}"/>
    <dgm:cxn modelId="{1037B771-43E5-4DB3-ADE0-A6E9A30A1139}" type="presOf" srcId="{8E9D6E19-165E-4A66-8A17-C05B2FAA838D}" destId="{F3611C86-AEDB-457B-8547-96550A2C37FC}" srcOrd="0" destOrd="0" presId="urn:microsoft.com/office/officeart/2005/8/layout/hierarchy1"/>
    <dgm:cxn modelId="{92E5B475-E096-4CF7-A5A7-523C2C1DAB8C}" type="presOf" srcId="{D6CE9474-03B0-4186-8C81-5BDA4033F5E5}" destId="{FFED992B-8BD2-4D8F-A61D-7F10EC275D0B}" srcOrd="0" destOrd="0" presId="urn:microsoft.com/office/officeart/2005/8/layout/hierarchy1"/>
    <dgm:cxn modelId="{6EB4138A-3338-4E20-8561-BAFFD75542CE}" type="presOf" srcId="{F3BA2A5D-5AD4-47FA-A0A5-BFA045941551}" destId="{96F808D5-36D4-4213-BAD4-51AC6A0D4EC5}" srcOrd="0" destOrd="0" presId="urn:microsoft.com/office/officeart/2005/8/layout/hierarchy1"/>
    <dgm:cxn modelId="{6A992ADA-EED8-41C3-A0DE-D6CF65F4C875}" srcId="{8E9D6E19-165E-4A66-8A17-C05B2FAA838D}" destId="{16A75DF4-1567-4CD5-BE4A-A53C675F8487}" srcOrd="2" destOrd="0" parTransId="{353D14CF-7C7C-4BB8-B270-9F7FD2E514AE}" sibTransId="{AEADA082-E6A4-4D2C-8AD5-A9E36DAA48C3}"/>
    <dgm:cxn modelId="{9B4B721A-E488-4E65-BF8A-7A7D09DAF006}" type="presParOf" srcId="{F3611C86-AEDB-457B-8547-96550A2C37FC}" destId="{D5C0D60A-BA7C-4395-9862-AD51CBB62192}" srcOrd="0" destOrd="0" presId="urn:microsoft.com/office/officeart/2005/8/layout/hierarchy1"/>
    <dgm:cxn modelId="{CC0025C3-AACA-4C0F-908D-911CEEF2CF7A}" type="presParOf" srcId="{D5C0D60A-BA7C-4395-9862-AD51CBB62192}" destId="{51E02950-FEF8-40C1-8F64-907679735703}" srcOrd="0" destOrd="0" presId="urn:microsoft.com/office/officeart/2005/8/layout/hierarchy1"/>
    <dgm:cxn modelId="{8CF12779-208A-49E8-8F72-5B7ED72BA35A}" type="presParOf" srcId="{51E02950-FEF8-40C1-8F64-907679735703}" destId="{C697E618-C2D7-4B4A-987C-E53B09A83B23}" srcOrd="0" destOrd="0" presId="urn:microsoft.com/office/officeart/2005/8/layout/hierarchy1"/>
    <dgm:cxn modelId="{B2AC0F34-A24E-4590-A496-BAEE010C1997}" type="presParOf" srcId="{51E02950-FEF8-40C1-8F64-907679735703}" destId="{FFED992B-8BD2-4D8F-A61D-7F10EC275D0B}" srcOrd="1" destOrd="0" presId="urn:microsoft.com/office/officeart/2005/8/layout/hierarchy1"/>
    <dgm:cxn modelId="{B0E02F4D-5BA0-4DE9-8DA2-DB6AD63A5389}" type="presParOf" srcId="{D5C0D60A-BA7C-4395-9862-AD51CBB62192}" destId="{5E4B15CE-0750-4D89-87B0-CEF8F6109F2F}" srcOrd="1" destOrd="0" presId="urn:microsoft.com/office/officeart/2005/8/layout/hierarchy1"/>
    <dgm:cxn modelId="{8A17CD42-8B63-4E21-9D5C-B810CA4AEA09}" type="presParOf" srcId="{F3611C86-AEDB-457B-8547-96550A2C37FC}" destId="{1B226B42-1E7B-4D42-82E7-A6A7650333ED}" srcOrd="1" destOrd="0" presId="urn:microsoft.com/office/officeart/2005/8/layout/hierarchy1"/>
    <dgm:cxn modelId="{11BDE0E3-86DC-4041-B4B4-54D3B57EE9AD}" type="presParOf" srcId="{1B226B42-1E7B-4D42-82E7-A6A7650333ED}" destId="{E3E90CC0-5F81-43CE-9D0F-E914F63666C7}" srcOrd="0" destOrd="0" presId="urn:microsoft.com/office/officeart/2005/8/layout/hierarchy1"/>
    <dgm:cxn modelId="{89C2FF61-4B95-4DA1-B3E5-C2F5D4A8B60C}" type="presParOf" srcId="{E3E90CC0-5F81-43CE-9D0F-E914F63666C7}" destId="{B4DADE1B-510E-4DED-AC40-19B832F0E88D}" srcOrd="0" destOrd="0" presId="urn:microsoft.com/office/officeart/2005/8/layout/hierarchy1"/>
    <dgm:cxn modelId="{59595356-52B3-4999-A566-3F71E2554AF5}" type="presParOf" srcId="{E3E90CC0-5F81-43CE-9D0F-E914F63666C7}" destId="{96F808D5-36D4-4213-BAD4-51AC6A0D4EC5}" srcOrd="1" destOrd="0" presId="urn:microsoft.com/office/officeart/2005/8/layout/hierarchy1"/>
    <dgm:cxn modelId="{D88EC848-F2F6-4C9C-B4C7-E261086D0DF4}" type="presParOf" srcId="{1B226B42-1E7B-4D42-82E7-A6A7650333ED}" destId="{80F1E4CF-017A-44F5-89C7-7E3739BCD5EA}" srcOrd="1" destOrd="0" presId="urn:microsoft.com/office/officeart/2005/8/layout/hierarchy1"/>
    <dgm:cxn modelId="{C6A698DC-9522-4735-80C8-53E5378C4C40}" type="presParOf" srcId="{F3611C86-AEDB-457B-8547-96550A2C37FC}" destId="{85D7843C-4C43-4F57-9BFB-D42BAE9AA1D5}" srcOrd="2" destOrd="0" presId="urn:microsoft.com/office/officeart/2005/8/layout/hierarchy1"/>
    <dgm:cxn modelId="{BC4BC776-ECC2-4489-89D2-4689FC4D15AB}" type="presParOf" srcId="{85D7843C-4C43-4F57-9BFB-D42BAE9AA1D5}" destId="{CF6EB7A5-3FF6-42E6-A577-0EA69C9A94A0}" srcOrd="0" destOrd="0" presId="urn:microsoft.com/office/officeart/2005/8/layout/hierarchy1"/>
    <dgm:cxn modelId="{FC58DEB3-78D1-4872-BA7C-791918FE5B64}" type="presParOf" srcId="{CF6EB7A5-3FF6-42E6-A577-0EA69C9A94A0}" destId="{1A36080E-3DC7-49AE-8303-B5AF3BA92740}" srcOrd="0" destOrd="0" presId="urn:microsoft.com/office/officeart/2005/8/layout/hierarchy1"/>
    <dgm:cxn modelId="{DAED10EE-9F89-48E8-BC33-33996F771122}" type="presParOf" srcId="{CF6EB7A5-3FF6-42E6-A577-0EA69C9A94A0}" destId="{6261081D-826E-4A79-BDB7-1E11FBFC2246}" srcOrd="1" destOrd="0" presId="urn:microsoft.com/office/officeart/2005/8/layout/hierarchy1"/>
    <dgm:cxn modelId="{39D39D98-BA9E-47D1-B2E7-BD39312E7299}" type="presParOf" srcId="{85D7843C-4C43-4F57-9BFB-D42BAE9AA1D5}" destId="{1662FF7F-EFED-48B8-A52B-88D4D661B88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7E618-C2D7-4B4A-987C-E53B09A83B23}">
      <dsp:nvSpPr>
        <dsp:cNvPr id="0" name=""/>
        <dsp:cNvSpPr/>
      </dsp:nvSpPr>
      <dsp:spPr>
        <a:xfrm>
          <a:off x="0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D992B-8BD2-4D8F-A61D-7F10EC275D0B}">
      <dsp:nvSpPr>
        <dsp:cNvPr id="0" name=""/>
        <dsp:cNvSpPr/>
      </dsp:nvSpPr>
      <dsp:spPr>
        <a:xfrm>
          <a:off x="31432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ALS</a:t>
          </a:r>
        </a:p>
      </dsp:txBody>
      <dsp:txXfrm>
        <a:off x="366939" y="1112657"/>
        <a:ext cx="2723696" cy="1691139"/>
      </dsp:txXfrm>
    </dsp:sp>
    <dsp:sp modelId="{B4DADE1B-510E-4DED-AC40-19B832F0E88D}">
      <dsp:nvSpPr>
        <dsp:cNvPr id="0" name=""/>
        <dsp:cNvSpPr/>
      </dsp:nvSpPr>
      <dsp:spPr>
        <a:xfrm>
          <a:off x="3457574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808D5-36D4-4213-BAD4-51AC6A0D4EC5}">
      <dsp:nvSpPr>
        <dsp:cNvPr id="0" name=""/>
        <dsp:cNvSpPr/>
      </dsp:nvSpPr>
      <dsp:spPr>
        <a:xfrm>
          <a:off x="3771899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dirty="0" err="1"/>
            <a:t>Cyanoa</a:t>
          </a:r>
          <a:endParaRPr lang="en-US" sz="4200" b="0" i="0" kern="1200" dirty="0"/>
        </a:p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0" i="0" kern="1200" dirty="0" err="1"/>
            <a:t>crylate</a:t>
          </a:r>
          <a:endParaRPr lang="en-US" sz="4200" b="0" kern="1200" dirty="0"/>
        </a:p>
      </dsp:txBody>
      <dsp:txXfrm>
        <a:off x="3824513" y="1112657"/>
        <a:ext cx="2723696" cy="1691139"/>
      </dsp:txXfrm>
    </dsp:sp>
    <dsp:sp modelId="{1A36080E-3DC7-49AE-8303-B5AF3BA92740}">
      <dsp:nvSpPr>
        <dsp:cNvPr id="0" name=""/>
        <dsp:cNvSpPr/>
      </dsp:nvSpPr>
      <dsp:spPr>
        <a:xfrm>
          <a:off x="6915149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1081D-826E-4A79-BDB7-1E11FBFC2246}">
      <dsp:nvSpPr>
        <dsp:cNvPr id="0" name=""/>
        <dsp:cNvSpPr/>
      </dsp:nvSpPr>
      <dsp:spPr>
        <a:xfrm>
          <a:off x="722947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Chemical</a:t>
          </a:r>
        </a:p>
      </dsp:txBody>
      <dsp:txXfrm>
        <a:off x="7282089" y="1112657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1E20B-DE44-464A-B62E-F3676F5FCD2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38C40-4039-48D7-A9F4-9F270344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2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opkinscf.org/knowledge/cftr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CFTR - Johns Hopkins Cystic Fibrosis Center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38C40-4039-48D7-A9F4-9F27034461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7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Inactivated: Hep A. Flu, Polio, Rabies</a:t>
            </a:r>
          </a:p>
          <a:p>
            <a:r>
              <a:rPr lang="en-US" dirty="0"/>
              <a:t>Live: MMR, Smallpox, chicken pox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38C40-4039-48D7-A9F4-9F27034461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1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0675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2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1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3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4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5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9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7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8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sz="100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2014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rx.com/healthcare-access/research/how-much-does-insulin-cost-compare-brands" TargetMode="External"/><Relationship Id="rId2" Type="http://schemas.openxmlformats.org/officeDocument/2006/relationships/hyperlink" Target="https://worldpopulationreview.com/country-rankings/cost-of-insulin-by-count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U-lDXBZofM" TargetMode="External"/><Relationship Id="rId2" Type="http://schemas.openxmlformats.org/officeDocument/2006/relationships/hyperlink" Target="https://www.youtube.com/watch?v=CDw4WPng2i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qausqhqklH0" TargetMode="External"/><Relationship Id="rId5" Type="http://schemas.openxmlformats.org/officeDocument/2006/relationships/hyperlink" Target="https://www.youtube.com/watch?v=xi9FH0gWLn4&amp;t=67s" TargetMode="External"/><Relationship Id="rId4" Type="http://schemas.openxmlformats.org/officeDocument/2006/relationships/hyperlink" Target="https://www.youtube.com/watch?v=y_a7Y2SHTq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opkinscf.org/knowledge/effects-of-cf/" TargetMode="External"/><Relationship Id="rId2" Type="http://schemas.openxmlformats.org/officeDocument/2006/relationships/hyperlink" Target="https://www.stanfordchildrens.org/content/dam/sch/content-public/pdf/cystic-fibrosis-patient-newsletter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line_of_human_vaccines" TargetMode="External"/><Relationship Id="rId2" Type="http://schemas.openxmlformats.org/officeDocument/2006/relationships/hyperlink" Target="https://www.cdc.gov/vaccines-children/schedules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dc.gov/smallpox/data-research/index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FqlTslU22s" TargetMode="External"/><Relationship Id="rId2" Type="http://schemas.openxmlformats.org/officeDocument/2006/relationships/hyperlink" Target="https://www.youtube.com/watch?v=uVUf_pt7Sh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istoryofvaccines.org/vaccines-1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4LwYOYZyPzw&amp;pp=ygUZaG93IGFyZSB2YWNjaW5lcyBwcm9kdWNlZA%3D%3D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how-long-it-took-to-develop-other-vaccines-in-history-2020-7" TargetMode="External"/><Relationship Id="rId2" Type="http://schemas.openxmlformats.org/officeDocument/2006/relationships/hyperlink" Target="https://www.youtube.com/watch?v=v-NEr3KCug8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DEBDB-5859-4B9E-8810-2C5CFED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1051560" y="942975"/>
            <a:ext cx="9966960" cy="3525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9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Cool Stuff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D1A340-723B-4014-B5FE-204F06273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58589"/>
            <a:ext cx="9144000" cy="0"/>
          </a:xfrm>
          <a:prstGeom prst="line">
            <a:avLst/>
          </a:prstGeom>
          <a:ln w="2857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4"/>
          <p:cNvSpPr/>
          <p:nvPr/>
        </p:nvSpPr>
        <p:spPr>
          <a:xfrm>
            <a:off x="5233492" y="4782642"/>
            <a:ext cx="302419" cy="302419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76197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E5FFA-E6EB-75C9-BEEF-691B6CD9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D020E-AD32-EEAA-E551-5711F5071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Are fingerprints unique?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44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CB33-DE68-4C5B-B513-D330414E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Collection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F64C77F-C365-B409-B164-61E10AC5D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64960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3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6B5B-244A-1B1F-1EA3-3E052891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1E90-4CC7-79E4-4A27-461E0B18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378" y="1826278"/>
            <a:ext cx="9144000" cy="27980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CRISPR</a:t>
            </a:r>
          </a:p>
        </p:txBody>
      </p:sp>
    </p:spTree>
    <p:extLst>
      <p:ext uri="{BB962C8B-B14F-4D97-AF65-F5344CB8AC3E}">
        <p14:creationId xmlns:p14="http://schemas.microsoft.com/office/powerpoint/2010/main" val="45938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F7FB-E70B-26D9-2A63-C9B0E8FB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3F93450-F4F0-82EB-FC39-11E89205890F}"/>
              </a:ext>
            </a:extLst>
          </p:cNvPr>
          <p:cNvSpPr txBox="1"/>
          <p:nvPr/>
        </p:nvSpPr>
        <p:spPr>
          <a:xfrm>
            <a:off x="314632" y="285135"/>
            <a:ext cx="11562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Types of Diabetes</a:t>
            </a:r>
          </a:p>
          <a:p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07A3C-A7AD-E400-3E6D-0C279C20E0C2}"/>
              </a:ext>
            </a:extLst>
          </p:cNvPr>
          <p:cNvSpPr txBox="1"/>
          <p:nvPr/>
        </p:nvSpPr>
        <p:spPr>
          <a:xfrm>
            <a:off x="639097" y="1362353"/>
            <a:ext cx="1076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  <a:p>
            <a:br>
              <a:rPr lang="en-US" sz="2400" b="1" dirty="0"/>
            </a:br>
            <a:endParaRPr lang="en-US" sz="2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A9BD73-3622-447C-E3C3-5C21A6EC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73606"/>
              </p:ext>
            </p:extLst>
          </p:nvPr>
        </p:nvGraphicFramePr>
        <p:xfrm>
          <a:off x="1213852" y="2594987"/>
          <a:ext cx="9827775" cy="30487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75925">
                  <a:extLst>
                    <a:ext uri="{9D8B030D-6E8A-4147-A177-3AD203B41FA5}">
                      <a16:colId xmlns:a16="http://schemas.microsoft.com/office/drawing/2014/main" val="2624514597"/>
                    </a:ext>
                  </a:extLst>
                </a:gridCol>
                <a:gridCol w="3275925">
                  <a:extLst>
                    <a:ext uri="{9D8B030D-6E8A-4147-A177-3AD203B41FA5}">
                      <a16:colId xmlns:a16="http://schemas.microsoft.com/office/drawing/2014/main" val="3413401653"/>
                    </a:ext>
                  </a:extLst>
                </a:gridCol>
                <a:gridCol w="3275925">
                  <a:extLst>
                    <a:ext uri="{9D8B030D-6E8A-4147-A177-3AD203B41FA5}">
                      <a16:colId xmlns:a16="http://schemas.microsoft.com/office/drawing/2014/main" val="1053835262"/>
                    </a:ext>
                  </a:extLst>
                </a:gridCol>
              </a:tblGrid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happens?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104963"/>
                  </a:ext>
                </a:extLst>
              </a:tr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Type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insulin 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 blood 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304524"/>
                  </a:ext>
                </a:extLst>
              </a:tr>
              <a:tr h="774008">
                <a:tc>
                  <a:txBody>
                    <a:bodyPr/>
                    <a:lstStyle/>
                    <a:p>
                      <a:r>
                        <a:rPr lang="en-US" sz="2000" dirty="0"/>
                        <a:t>Type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Insulin produced, but cells don’t respond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 blood 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097533"/>
                  </a:ext>
                </a:extLst>
              </a:tr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Hypoglycemia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Too much insulin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Blood sugar too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15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11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8A8D-FE3A-2C0F-3798-39ABC549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E0EED39-00FC-A3B0-2953-6579BF4B8C7A}"/>
              </a:ext>
            </a:extLst>
          </p:cNvPr>
          <p:cNvSpPr txBox="1"/>
          <p:nvPr/>
        </p:nvSpPr>
        <p:spPr>
          <a:xfrm>
            <a:off x="314632" y="285135"/>
            <a:ext cx="11562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The Dark Side of Insulin</a:t>
            </a:r>
          </a:p>
          <a:p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0FE6A-D041-0A1F-44E3-58BC3CEF2C81}"/>
              </a:ext>
            </a:extLst>
          </p:cNvPr>
          <p:cNvSpPr txBox="1"/>
          <p:nvPr/>
        </p:nvSpPr>
        <p:spPr>
          <a:xfrm>
            <a:off x="639097" y="1362353"/>
            <a:ext cx="107668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Patent for Insulin was sold to U Toronto</a:t>
            </a:r>
          </a:p>
          <a:p>
            <a:r>
              <a:rPr lang="en-US" sz="3200" dirty="0"/>
              <a:t>  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200" dirty="0">
                <a:hlinkClick r:id="rId2"/>
              </a:rPr>
              <a:t>Cost of Insulin by Country 2025</a:t>
            </a:r>
            <a:br>
              <a:rPr lang="en-US" sz="3200" dirty="0"/>
            </a:b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Eli Lilly, Novo Nordisk, and Sanofi top manufacturers</a:t>
            </a:r>
            <a:br>
              <a:rPr lang="en-US" sz="3200" dirty="0"/>
            </a:br>
            <a:endParaRPr lang="en-US" sz="3200" dirty="0"/>
          </a:p>
          <a:p>
            <a:endParaRPr lang="en-US" sz="3200" dirty="0"/>
          </a:p>
          <a:p>
            <a:r>
              <a:rPr lang="en-US" sz="3200" dirty="0">
                <a:hlinkClick r:id="rId3"/>
              </a:rPr>
              <a:t>Insulin Costs Plummet: A Decade-Long High Comes to an End - </a:t>
            </a:r>
            <a:r>
              <a:rPr lang="en-US" sz="3200" dirty="0" err="1">
                <a:hlinkClick r:id="rId3"/>
              </a:rPr>
              <a:t>GoodRx</a:t>
            </a:r>
            <a:endParaRPr lang="en-US" sz="3200" dirty="0"/>
          </a:p>
          <a:p>
            <a:br>
              <a:rPr lang="en-US" sz="3200" b="1" dirty="0"/>
            </a:br>
            <a:endParaRPr lang="en-US" sz="3200" b="1" dirty="0"/>
          </a:p>
        </p:txBody>
      </p:sp>
      <p:pic>
        <p:nvPicPr>
          <p:cNvPr id="1028" name="Picture 4" descr="Darth Vader Wallpaper 8k HD for Desktop ID:3646">
            <a:extLst>
              <a:ext uri="{FF2B5EF4-FFF2-40B4-BE49-F238E27FC236}">
                <a16:creationId xmlns:a16="http://schemas.microsoft.com/office/drawing/2014/main" id="{6942D1AF-FE7E-C912-C2B1-36641D471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331" y="0"/>
            <a:ext cx="3919502" cy="220472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2925C-3DE6-35E0-2F7B-C29A1FB80E7B}"/>
              </a:ext>
            </a:extLst>
          </p:cNvPr>
          <p:cNvSpPr txBox="1"/>
          <p:nvPr/>
        </p:nvSpPr>
        <p:spPr>
          <a:xfrm>
            <a:off x="1709984" y="1912332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243913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958C-D37A-2529-7FF3-23BD894E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68E1-5E11-2A0F-4F0A-5A06F1D8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How is insulin manufactured?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3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C44-2354-240D-9B76-EA17D0C3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36E1-1B0E-817D-A7AF-AA593716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Human insulin consists of 51 amino acids, while porcine insulin consists of 30 amino acids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4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0C800F1-E35A-B7CA-21E8-F43F5353B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0"/>
            <a:ext cx="9550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46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2D506-2071-D769-185B-309B1D66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0" y="1273904"/>
            <a:ext cx="11571300" cy="345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1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DA46FF-862F-EE53-F563-6F3C6EDE15AC}"/>
              </a:ext>
            </a:extLst>
          </p:cNvPr>
          <p:cNvSpPr txBox="1"/>
          <p:nvPr/>
        </p:nvSpPr>
        <p:spPr>
          <a:xfrm>
            <a:off x="737936" y="53722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Genetic Engineering</a:t>
            </a:r>
            <a:endParaRPr lang="en-US" dirty="0"/>
          </a:p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Making synthetic human insulin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Why Diabetics Are Making Homemade Insulin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Using Gene-Editing to Cure Type 1 Diabetes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Genetic Modification Explained || Insulin-Producing Bacteria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8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lose-up of purple cells">
            <a:extLst>
              <a:ext uri="{FF2B5EF4-FFF2-40B4-BE49-F238E27FC236}">
                <a16:creationId xmlns:a16="http://schemas.microsoft.com/office/drawing/2014/main" id="{E3BEF150-1845-7492-7868-E6E69DB868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601" b="7399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7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C210507A-014E-05D4-0DF5-7842D74B2766}"/>
              </a:ext>
            </a:extLst>
          </p:cNvPr>
          <p:cNvSpPr txBox="1"/>
          <p:nvPr/>
        </p:nvSpPr>
        <p:spPr>
          <a:xfrm>
            <a:off x="1051560" y="1432223"/>
            <a:ext cx="9966960" cy="303580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lIns="91440" tIns="45720" rIns="91440" bIns="45720" numCol="1" spcCol="1270" rtlCol="0" anchor="b" anchorCtr="0">
            <a:normAutofit/>
          </a:bodyPr>
          <a:lstStyle/>
          <a:p>
            <a:pPr marL="0" lvl="0" indent="0" defTabSz="914400">
              <a:lnSpc>
                <a:spcPct val="8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6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Cystic Fibrosis</a:t>
            </a:r>
          </a:p>
        </p:txBody>
      </p:sp>
    </p:spTree>
    <p:extLst>
      <p:ext uri="{BB962C8B-B14F-4D97-AF65-F5344CB8AC3E}">
        <p14:creationId xmlns:p14="http://schemas.microsoft.com/office/powerpoint/2010/main" val="2713411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F90D-244C-92D4-BC91-4E0DCECE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he fault in our stars movie story - ingdas">
            <a:extLst>
              <a:ext uri="{FF2B5EF4-FFF2-40B4-BE49-F238E27FC236}">
                <a16:creationId xmlns:a16="http://schemas.microsoft.com/office/drawing/2014/main" id="{30B0C95C-9356-200D-F864-2B64619F4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4" y="2093976"/>
            <a:ext cx="5578952" cy="313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ve Feet Apart (2019) - AZ Movies">
            <a:extLst>
              <a:ext uri="{FF2B5EF4-FFF2-40B4-BE49-F238E27FC236}">
                <a16:creationId xmlns:a16="http://schemas.microsoft.com/office/drawing/2014/main" id="{8C2BF1BF-E6B8-AD19-746A-C25231596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676" y="2093976"/>
            <a:ext cx="6294684" cy="32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490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717C-A234-030C-EA6B-02D22E8D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" y="0"/>
            <a:ext cx="10058400" cy="1609344"/>
          </a:xfrm>
        </p:spPr>
        <p:txBody>
          <a:bodyPr/>
          <a:lstStyle/>
          <a:p>
            <a:r>
              <a:rPr lang="en-US" dirty="0"/>
              <a:t>What is CF?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0AAAB-E798-2651-2496-A97C83633668}"/>
              </a:ext>
            </a:extLst>
          </p:cNvPr>
          <p:cNvSpPr txBox="1"/>
          <p:nvPr/>
        </p:nvSpPr>
        <p:spPr>
          <a:xfrm>
            <a:off x="352926" y="1609344"/>
            <a:ext cx="1127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Mutation in the </a:t>
            </a:r>
            <a:r>
              <a:rPr lang="en-US" b="1" dirty="0"/>
              <a:t>Cystic Fibrosis Transmembrane Conductance Regulator </a:t>
            </a:r>
            <a:r>
              <a:rPr lang="en-US" dirty="0"/>
              <a:t>(CFTR) gene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Faculty CFR protein changes how much salt movies in and out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Causes thick and sticky mucus and increase salt in sweat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Interruprs function of vital organs, </a:t>
            </a:r>
            <a:r>
              <a:rPr lang="en-US" dirty="0" err="1"/>
              <a:t>esp</a:t>
            </a:r>
            <a:r>
              <a:rPr lang="en-US" dirty="0"/>
              <a:t> the lungs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involves the pancreas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current cure but there have been developments </a:t>
            </a:r>
            <a:r>
              <a:rPr lang="en-US" dirty="0">
                <a:hlinkClick r:id="rId2"/>
              </a:rPr>
              <a:t>cystic-fibrosis-patient-newsletter.pdf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Effects </a:t>
            </a:r>
            <a:r>
              <a:rPr lang="en-US" dirty="0" err="1">
                <a:hlinkClick r:id="rId3"/>
              </a:rPr>
              <a:t>Effects</a:t>
            </a:r>
            <a:r>
              <a:rPr lang="en-US" dirty="0">
                <a:hlinkClick r:id="rId3"/>
              </a:rPr>
              <a:t> of CF - Johns Hopkins Cystic Fibrosis Center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5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128" name="Oval 5127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Oval 5128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5122" name="Picture 2" descr="Image of healthy bronchus in the lungs and one with cystic fibrosis. The thick mucus in someone with CF limits air flow.">
            <a:extLst>
              <a:ext uri="{FF2B5EF4-FFF2-40B4-BE49-F238E27FC236}">
                <a16:creationId xmlns:a16="http://schemas.microsoft.com/office/drawing/2014/main" id="{DA976609-36E0-3604-FBC8-729C3D92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3553" y="818727"/>
            <a:ext cx="3784895" cy="522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88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EE6C75A5-F4B8-415F-B4EA-A9AD45087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080" name="Oval 3079">
              <a:extLst>
                <a:ext uri="{FF2B5EF4-FFF2-40B4-BE49-F238E27FC236}">
                  <a16:creationId xmlns:a16="http://schemas.microsoft.com/office/drawing/2014/main" id="{3D9CC178-C06A-480F-AAFC-127638C29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Oval 3080">
              <a:extLst>
                <a:ext uri="{FF2B5EF4-FFF2-40B4-BE49-F238E27FC236}">
                  <a16:creationId xmlns:a16="http://schemas.microsoft.com/office/drawing/2014/main" id="{77235C6D-8D65-4BC6-AE0E-523AB3C8D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4" name="Picture 2" descr="CFTR Channel">
            <a:extLst>
              <a:ext uri="{FF2B5EF4-FFF2-40B4-BE49-F238E27FC236}">
                <a16:creationId xmlns:a16="http://schemas.microsoft.com/office/drawing/2014/main" id="{0813651C-1A07-3F21-E676-DDC9FC07D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97" b="1043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344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FTR cellular processing">
            <a:extLst>
              <a:ext uri="{FF2B5EF4-FFF2-40B4-BE49-F238E27FC236}">
                <a16:creationId xmlns:a16="http://schemas.microsoft.com/office/drawing/2014/main" id="{4C87BFA4-DB48-1124-4B1B-923105C96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05" y="1042737"/>
            <a:ext cx="11430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71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heritance pattern for cystic fibrosis">
            <a:extLst>
              <a:ext uri="{FF2B5EF4-FFF2-40B4-BE49-F238E27FC236}">
                <a16:creationId xmlns:a16="http://schemas.microsoft.com/office/drawing/2014/main" id="{2258B648-BD6D-B30D-8C17-C52E10353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0"/>
            <a:ext cx="7367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686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47142-E809-2D8A-D771-786ABD5D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7768" y="2906591"/>
            <a:ext cx="4741963" cy="1971964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Vaccines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5821A2D-F010-4C2B-8819-23281D9C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News Flash • Fayette County, PA • CivicEngage">
            <a:extLst>
              <a:ext uri="{FF2B5EF4-FFF2-40B4-BE49-F238E27FC236}">
                <a16:creationId xmlns:a16="http://schemas.microsoft.com/office/drawing/2014/main" id="{F2B0C576-A185-C3CA-F054-8E32726E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396" y="1627602"/>
            <a:ext cx="3573675" cy="369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8831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E1FF-40C5-B251-A99C-0ED2DA3D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A5A9-F7F5-B107-6E1D-36F2F9B1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222" y="1407468"/>
            <a:ext cx="5250030" cy="134511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haroni"/>
              </a:rPr>
              <a:t>Genetic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FA3D-73CB-EF29-B51E-5B5D3A6D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What are some common vaccines that you know?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17CB5-C758-E1FB-EA3F-FA5E798B31F7}"/>
              </a:ext>
            </a:extLst>
          </p:cNvPr>
          <p:cNvSpPr txBox="1"/>
          <p:nvPr/>
        </p:nvSpPr>
        <p:spPr>
          <a:xfrm>
            <a:off x="5751871" y="57051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Vaccine Schedules | Childhood Vaccines | CDC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66582-494B-E045-69E5-FFD826154863}"/>
              </a:ext>
            </a:extLst>
          </p:cNvPr>
          <p:cNvSpPr txBox="1"/>
          <p:nvPr/>
        </p:nvSpPr>
        <p:spPr>
          <a:xfrm>
            <a:off x="420222" y="567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Timeline of human vaccines - Wikipedia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FAFD7-FB99-CAC8-0222-F969BFB6FDC2}"/>
              </a:ext>
            </a:extLst>
          </p:cNvPr>
          <p:cNvSpPr txBox="1"/>
          <p:nvPr/>
        </p:nvSpPr>
        <p:spPr>
          <a:xfrm>
            <a:off x="8072207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Smallpox Research | Smallpox | CDC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28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B421BD-1A3F-3B3B-0A4A-6DD182D40695}"/>
              </a:ext>
            </a:extLst>
          </p:cNvPr>
          <p:cNvSpPr txBox="1"/>
          <p:nvPr/>
        </p:nvSpPr>
        <p:spPr>
          <a:xfrm>
            <a:off x="3048000" y="32467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Antibiotics, Antivirals, and Vaccines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Viruses (Updated)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59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889-C7D2-D5E8-9522-9E3AFDCD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A6392E-4DB5-98A4-11F0-C6A2C808CFF1}"/>
              </a:ext>
            </a:extLst>
          </p:cNvPr>
          <p:cNvSpPr txBox="1"/>
          <p:nvPr/>
        </p:nvSpPr>
        <p:spPr>
          <a:xfrm>
            <a:off x="314632" y="285135"/>
            <a:ext cx="11562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Types of Vaccines</a:t>
            </a:r>
          </a:p>
          <a:p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E80BB-CE42-2155-BFE4-94EA0FDCE4CD}"/>
              </a:ext>
            </a:extLst>
          </p:cNvPr>
          <p:cNvSpPr txBox="1"/>
          <p:nvPr/>
        </p:nvSpPr>
        <p:spPr>
          <a:xfrm>
            <a:off x="879728" y="2132374"/>
            <a:ext cx="1076684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Inactivated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Live-attenuated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Subunit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Toxoid</a:t>
            </a:r>
            <a:br>
              <a:rPr lang="en-US" sz="3200" b="1" dirty="0"/>
            </a:b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Messenger RNA (mRNA)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br>
              <a:rPr lang="en-US" sz="3200" dirty="0"/>
            </a:br>
            <a:endParaRPr lang="en-US" sz="3200" dirty="0"/>
          </a:p>
          <a:p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D5117-7601-7A50-232C-C62D3C2D4623}"/>
              </a:ext>
            </a:extLst>
          </p:cNvPr>
          <p:cNvSpPr txBox="1"/>
          <p:nvPr/>
        </p:nvSpPr>
        <p:spPr>
          <a:xfrm>
            <a:off x="7816645" y="2851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Vaccines 101 | History of Vaccines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D1553-D451-8129-57D9-D6E956A182ED}"/>
              </a:ext>
            </a:extLst>
          </p:cNvPr>
          <p:cNvSpPr txBox="1"/>
          <p:nvPr/>
        </p:nvSpPr>
        <p:spPr>
          <a:xfrm rot="10800000" flipV="1">
            <a:off x="7952744" y="855101"/>
            <a:ext cx="3693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How Are Vaccines Actually Made - 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91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880C-D3F9-F2A0-02D2-F844E1D2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accines Topics Four images working 02">
            <a:extLst>
              <a:ext uri="{FF2B5EF4-FFF2-40B4-BE49-F238E27FC236}">
                <a16:creationId xmlns:a16="http://schemas.microsoft.com/office/drawing/2014/main" id="{B7EBFE75-6DA4-DC94-7927-EED399D12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399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BB9E-F721-1D2D-4DF5-9C6E0A38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accines topic 2 01 Vaccine Antigens">
            <a:extLst>
              <a:ext uri="{FF2B5EF4-FFF2-40B4-BE49-F238E27FC236}">
                <a16:creationId xmlns:a16="http://schemas.microsoft.com/office/drawing/2014/main" id="{81EE745F-9995-5543-A2CD-4209B583B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447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1D11-C57F-D0F7-C162-7D6CE31B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accines Topics Four images working 01">
            <a:extLst>
              <a:ext uri="{FF2B5EF4-FFF2-40B4-BE49-F238E27FC236}">
                <a16:creationId xmlns:a16="http://schemas.microsoft.com/office/drawing/2014/main" id="{D0F1EB37-0D26-3262-8B22-563A3F10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667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83F2-745C-C66F-16FF-4893839E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E529-9ADE-7E0C-0B9B-A1B72D2A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Vaccines Topics Four images working 03">
            <a:extLst>
              <a:ext uri="{FF2B5EF4-FFF2-40B4-BE49-F238E27FC236}">
                <a16:creationId xmlns:a16="http://schemas.microsoft.com/office/drawing/2014/main" id="{1EC9C602-27EF-D154-914B-7279C294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6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2F41-7A1D-AE03-71D2-9A6ED06B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Vaccines Topics Four images working 04">
            <a:extLst>
              <a:ext uri="{FF2B5EF4-FFF2-40B4-BE49-F238E27FC236}">
                <a16:creationId xmlns:a16="http://schemas.microsoft.com/office/drawing/2014/main" id="{FE195D1D-47E1-4CE2-1BF0-AED2E55A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972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0EB4-DFC4-25E6-E9AB-0E275ABA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E4E0-48C9-FA3E-1C6E-46896D82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How long does it take to make a vaccine?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35447-E4D2-92E3-5558-B893B726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CCE96-ECC1-45DF-F80E-7EF19E3A1AD5}"/>
              </a:ext>
            </a:extLst>
          </p:cNvPr>
          <p:cNvSpPr txBox="1"/>
          <p:nvPr/>
        </p:nvSpPr>
        <p:spPr>
          <a:xfrm>
            <a:off x="6093236" y="50005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(174) How the COVID-19 vaccines were created so quickly - Kaitlyn Sadtler and Elizabeth Wayne - YouTube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A98CF-453C-DFF4-6C20-930606E55FCD}"/>
              </a:ext>
            </a:extLst>
          </p:cNvPr>
          <p:cNvSpPr txBox="1"/>
          <p:nvPr/>
        </p:nvSpPr>
        <p:spPr>
          <a:xfrm>
            <a:off x="-2764" y="60502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How Long It Took to Develop Other Vaccines in History - Business Insider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810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C287C8-9698-BF3F-06A3-497FCA6C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00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819DC71CB78142B17D73748BA19D02" ma:contentTypeVersion="5" ma:contentTypeDescription="Create a new document." ma:contentTypeScope="" ma:versionID="b5f4bd3f208f5acce3db05e327dc42b9">
  <xsd:schema xmlns:xsd="http://www.w3.org/2001/XMLSchema" xmlns:xs="http://www.w3.org/2001/XMLSchema" xmlns:p="http://schemas.microsoft.com/office/2006/metadata/properties" xmlns:ns2="63100cb2-e765-4ca3-9e76-d9d6fe143db6" targetNamespace="http://schemas.microsoft.com/office/2006/metadata/properties" ma:root="true" ma:fieldsID="e3204874f9a31d81920980f605117804" ns2:_="">
    <xsd:import namespace="63100cb2-e765-4ca3-9e76-d9d6fe143d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00cb2-e765-4ca3-9e76-d9d6fe143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F38FA8-8FBD-4CD8-B930-555B23C1097E}">
  <ds:schemaRefs>
    <ds:schemaRef ds:uri="63100cb2-e765-4ca3-9e76-d9d6fe143d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581A2B-4998-4987-BF32-C1D9F0B06E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30C1CB-6463-453E-86CC-0880E7D9926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1683</TotalTime>
  <Words>369</Words>
  <Application>Microsoft Office PowerPoint</Application>
  <PresentationFormat>Widescreen</PresentationFormat>
  <Paragraphs>87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Aharoni</vt:lpstr>
      <vt:lpstr>Aptos</vt:lpstr>
      <vt:lpstr>Arial</vt:lpstr>
      <vt:lpstr>Calibri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Collection</vt:lpstr>
      <vt:lpstr>CRISPR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CF?</vt:lpstr>
      <vt:lpstr>PowerPoint Presentation</vt:lpstr>
      <vt:lpstr>PowerPoint Presentation</vt:lpstr>
      <vt:lpstr>PowerPoint Presentation</vt:lpstr>
      <vt:lpstr>PowerPoint Presentation</vt:lpstr>
      <vt:lpstr>Vaccines</vt:lpstr>
      <vt:lpstr>Genetic disorder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Uzumaki ap</dc:creator>
  <cp:lastModifiedBy>Pokhrel, Apar</cp:lastModifiedBy>
  <cp:revision>225</cp:revision>
  <dcterms:created xsi:type="dcterms:W3CDTF">2021-02-08T16:02:51Z</dcterms:created>
  <dcterms:modified xsi:type="dcterms:W3CDTF">2025-06-26T18:47:26Z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0x01010074819DC71CB78142B17D73748BA19D02</vt:lpwstr>
  </property>
</Properties>
</file>